
<file path=[Content_Types].xml><?xml version="1.0" encoding="utf-8"?>
<Types xmlns="http://schemas.openxmlformats.org/package/2006/content-types">
  <Default Extension="xml" ContentType="application/xml"/>
  <Default Extension="rels" ContentType="application/vnd.openxmlformats-package.relationships+xml"/>
  <Default Extension="svg" ContentType="image/svg+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50" Type="http://schemas.openxmlformats.org/officeDocument/2006/relationships/viewProps" Target="viewProps.xml" /><Relationship Id="rId49" Type="http://schemas.openxmlformats.org/officeDocument/2006/relationships/presProps" Target="presProps.xml" /><Relationship Id="rId1" Type="http://schemas.openxmlformats.org/officeDocument/2006/relationships/slideMaster" Target="slideMasters/slideMaster1.xml" /><Relationship Id="rId52" Type="http://schemas.openxmlformats.org/officeDocument/2006/relationships/tableStyles" Target="tableStyles.xml" /><Relationship Id="rId5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zotero.com" TargetMode="External" /><Relationship Id="rId3" Type="http://schemas.openxmlformats.org/officeDocument/2006/relationships/slide" Target="slide47.xml" /><Relationship Id="rId4" Type="http://schemas.openxmlformats.org/officeDocument/2006/relationships/hyperlink" Target="https://zenodo.org"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datapaper"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sv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librarycarpentry.org/lc-shell/" TargetMode="External" /><Relationship Id="rId3" Type="http://schemas.openxmlformats.org/officeDocument/2006/relationships/slide" Target="slide4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w3.org/TR/n-quads/" TargetMode="Externa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en.wikipedia.org/wiki/Diff" TargetMode="Externa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linker.bio/hash://sha256/f849c870565f608899f183ca261365dce9c9f1c5441b1c779e0db49df9c2a19d"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Mobilizing Bat Literature</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using versioned snapshots of the Zotero BatLit Library</a:t>
            </a:r>
            <a:br/>
            <a:br/>
            <a:r>
              <a:rPr/>
              <a:t>Jorrit Poelen (UC Santa Barbara Cheadle Center, Ronin Institute, GloBI)</a:t>
            </a:r>
            <a:br/>
            <a:r>
              <a:rPr/>
              <a:t>Aja Sherman (Bat Eco-Interactions Project)</a:t>
            </a:r>
          </a:p>
        </p:txBody>
      </p:sp>
      <p:sp>
        <p:nvSpPr>
          <p:cNvPr id="4" name="Date Placeholder 3"/>
          <p:cNvSpPr>
            <a:spLocks noGrp="1"/>
          </p:cNvSpPr>
          <p:nvPr>
            <p:ph idx="10" sz="half" type="dt"/>
          </p:nvPr>
        </p:nvSpPr>
        <p:spPr/>
        <p:txBody>
          <a:bodyPr/>
          <a:lstStyle/>
          <a:p>
            <a:pPr lvl="0" indent="0" marL="0">
              <a:buNone/>
            </a:pPr>
            <a:r>
              <a:rPr/>
              <a:t>2025-08-26/2025-09-17</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Guiding Questions</a:t>
            </a:r>
          </a:p>
        </p:txBody>
      </p:sp>
      <p:sp>
        <p:nvSpPr>
          <p:cNvPr id="3" name="Content Placeholder 2"/>
          <p:cNvSpPr>
            <a:spLocks noGrp="1"/>
          </p:cNvSpPr>
          <p:nvPr>
            <p:ph idx="1"/>
          </p:nvPr>
        </p:nvSpPr>
        <p:spPr/>
        <p:txBody>
          <a:bodyPr/>
          <a:lstStyle/>
          <a:p>
            <a:pPr lvl="0" indent="0" marL="0">
              <a:spcBef>
                <a:spcPts val="3000"/>
              </a:spcBef>
              <a:buNone/>
            </a:pPr>
            <a:r>
              <a:rPr b="1"/>
              <a:t>How to manage the BatLit corpus?</a:t>
            </a:r>
          </a:p>
          <a:p>
            <a:pPr lvl="0" indent="0" marL="0">
              <a:spcBef>
                <a:spcPts val="3000"/>
              </a:spcBef>
              <a:buNone/>
            </a:pPr>
            <a:r>
              <a:rPr b="1"/>
              <a:t>How to create versioned snapshots of the BatLit corpus?</a:t>
            </a:r>
          </a:p>
          <a:p>
            <a:pPr lvl="0" indent="0" marL="0">
              <a:spcBef>
                <a:spcPts val="3000"/>
              </a:spcBef>
              <a:buNone/>
            </a:pPr>
            <a:r>
              <a:rPr b="1"/>
              <a:t>How to share versioned snapshots of the BatLit corpus?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Guiding Questions - Brief Answers</a:t>
            </a:r>
          </a:p>
        </p:txBody>
      </p:sp>
      <p:sp>
        <p:nvSpPr>
          <p:cNvPr id="3" name="Content Placeholder 2"/>
          <p:cNvSpPr>
            <a:spLocks noGrp="1"/>
          </p:cNvSpPr>
          <p:nvPr>
            <p:ph idx="1"/>
          </p:nvPr>
        </p:nvSpPr>
        <p:spPr/>
        <p:txBody>
          <a:bodyPr/>
          <a:lstStyle/>
          <a:p>
            <a:pPr lvl="0" indent="0" marL="0">
              <a:spcBef>
                <a:spcPts val="3000"/>
              </a:spcBef>
              <a:buNone/>
            </a:pPr>
            <a:r>
              <a:rPr b="1"/>
              <a:t>How to manage the BatLit corpus?</a:t>
            </a:r>
          </a:p>
          <a:p>
            <a:pPr lvl="0" indent="0" marL="0">
              <a:buNone/>
            </a:pPr>
            <a:r>
              <a:rPr/>
              <a:t>We use </a:t>
            </a:r>
            <a:r>
              <a:rPr>
                <a:hlinkClick r:id="rId2"/>
              </a:rPr>
              <a:t>Zotero</a:t>
            </a:r>
            <a:r>
              <a:rPr/>
              <a:t> to manage our literature corpus.</a:t>
            </a:r>
          </a:p>
          <a:p>
            <a:pPr lvl="0" indent="0" marL="0">
              <a:spcBef>
                <a:spcPts val="3000"/>
              </a:spcBef>
              <a:buNone/>
            </a:pPr>
            <a:r>
              <a:rPr b="1"/>
              <a:t>How to create versioned snapshots of the BatLit corpus?</a:t>
            </a:r>
          </a:p>
          <a:p>
            <a:pPr lvl="0" indent="0" marL="0">
              <a:buNone/>
            </a:pPr>
            <a:r>
              <a:rPr/>
              <a:t>We use Preston to version our literature corpus </a:t>
            </a:r>
            <a:r>
              <a:rPr baseline="30000">
                <a:hlinkClick r:id="rId3" action="ppaction://hlinksldjump"/>
              </a:rPr>
              <a:t>1</a:t>
            </a:r>
            <a:r>
              <a:rPr/>
              <a:t>.</a:t>
            </a:r>
          </a:p>
          <a:p>
            <a:pPr lvl="0" indent="0" marL="0">
              <a:spcBef>
                <a:spcPts val="3000"/>
              </a:spcBef>
              <a:buNone/>
            </a:pPr>
            <a:r>
              <a:rPr b="1"/>
              <a:t>How to share versioned snapshots of the BatLit corpus?</a:t>
            </a:r>
          </a:p>
          <a:p>
            <a:pPr lvl="0" indent="0" marL="0">
              <a:buNone/>
            </a:pPr>
            <a:r>
              <a:rPr/>
              <a:t>We use </a:t>
            </a:r>
            <a:r>
              <a:rPr>
                <a:hlinkClick r:id="rId4"/>
              </a:rPr>
              <a:t>Zenodo</a:t>
            </a:r>
            <a:r>
              <a:rPr/>
              <a:t> to allow versioned access to BatLit.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Guiding Questions - More Complete Answers</a:t>
            </a:r>
          </a:p>
        </p:txBody>
      </p:sp>
      <p:sp>
        <p:nvSpPr>
          <p:cNvPr id="3" name="Content Placeholder 2"/>
          <p:cNvSpPr>
            <a:spLocks noGrp="1"/>
          </p:cNvSpPr>
          <p:nvPr>
            <p:ph idx="1"/>
          </p:nvPr>
        </p:nvSpPr>
        <p:spPr/>
        <p:txBody>
          <a:bodyPr/>
          <a:lstStyle/>
          <a:p>
            <a:pPr lvl="0" indent="0" marL="0">
              <a:buNone/>
            </a:pPr>
            <a:r>
              <a:rPr/>
              <a:t>The </a:t>
            </a:r>
            <a:r>
              <a:rPr>
                <a:hlinkClick r:id="rId2"/>
              </a:rPr>
              <a:t>BatLit Data Paper</a:t>
            </a:r>
            <a:r>
              <a:rPr/>
              <a:t> describes our BatLit workflow and provides specific examples.</a:t>
            </a:r>
          </a:p>
          <a:p>
            <a:pPr lvl="0" indent="0" marL="0">
              <a:buNone/>
            </a:pPr>
            <a:r>
              <a:rPr/>
              <a:t>Also, the paper relies on Zotero and Zenodo documentation to answer any questions about these platforms.</a:t>
            </a:r>
          </a:p>
          <a:p>
            <a:pPr lvl="0" indent="0" marL="0">
              <a:buNone/>
            </a:pPr>
            <a:r>
              <a:rPr/>
              <a:t>The following sections help you get started on Preston and their relation to Zotero and Zenodo.</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BatLit Publication Workflow</a:t>
            </a:r>
          </a:p>
        </p:txBody>
      </p:sp>
      <p:pic>
        <p:nvPicPr>
          <p:cNvPr descr="assets/batlit-components.svg" id="0" name="Picture 1"/>
          <p:cNvPicPr>
            <a:picLocks noGrp="1" noChangeAspect="1"/>
          </p:cNvPicPr>
          <p:nvPr/>
        </p:nvPicPr>
        <p:blipFill>
          <a:blip r:embed="rId2"/>
          <a:stretch>
            <a:fillRect/>
          </a:stretch>
        </p:blipFill>
        <p:spPr bwMode="auto">
          <a:xfrm>
            <a:off x="2311400" y="1193800"/>
            <a:ext cx="4533900" cy="33909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Preston?</a:t>
            </a:r>
          </a:p>
        </p:txBody>
      </p:sp>
      <p:sp>
        <p:nvSpPr>
          <p:cNvPr id="3" name="Content Placeholder 2"/>
          <p:cNvSpPr>
            <a:spLocks noGrp="1"/>
          </p:cNvSpPr>
          <p:nvPr>
            <p:ph idx="1"/>
          </p:nvPr>
        </p:nvSpPr>
        <p:spPr/>
        <p:txBody>
          <a:bodyPr/>
          <a:lstStyle/>
          <a:p>
            <a:pPr lvl="0" indent="0" marL="0">
              <a:buNone/>
            </a:pPr>
            <a:r>
              <a:rPr/>
              <a:t>Preston allows for creating a versioned snapshot of a Zotero library (or group).</a:t>
            </a:r>
          </a:p>
          <a:p>
            <a:pPr lvl="0" indent="0" marL="0">
              <a:buNone/>
            </a:pPr>
            <a:r>
              <a:rPr/>
              <a:t>Also, Preston allows for depositing this versioned snapshot into Zenodo.</a:t>
            </a:r>
          </a:p>
          <a:p>
            <a:pPr lvl="0" indent="0" marL="0">
              <a:buNone/>
            </a:pPr>
            <a:r>
              <a:rPr/>
              <a:t>At time of writing, 26 Aug 2025, this publish Zotero-to-Zenodo functionality is only offered through Preston.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I - Preston Basics</a:t>
            </a:r>
          </a:p>
        </p:txBody>
      </p:sp>
      <p:sp>
        <p:nvSpPr>
          <p:cNvPr id="3" name="Content Placeholder 2"/>
          <p:cNvSpPr>
            <a:spLocks noGrp="1"/>
          </p:cNvSpPr>
          <p:nvPr>
            <p:ph idx="1"/>
          </p:nvPr>
        </p:nvSpPr>
        <p:spPr/>
        <p:txBody>
          <a:bodyPr/>
          <a:lstStyle/>
          <a:p>
            <a:pPr lvl="0" indent="-342900" marL="342900">
              <a:buAutoNum type="arabicPeriod"/>
            </a:pPr>
            <a:r>
              <a:rPr/>
              <a:t>Tracks (or versions) </a:t>
            </a:r>
            <a:r>
              <a:rPr i="1"/>
              <a:t>Digital</a:t>
            </a:r>
            <a:r>
              <a:rPr/>
              <a:t> Content</a:t>
            </a:r>
          </a:p>
          <a:p>
            <a:pPr lvl="0" indent="-342900" marL="342900">
              <a:buAutoNum type="arabicPeriod"/>
            </a:pPr>
            <a:r>
              <a:rPr/>
              <a:t>Format Agnostic (</a:t>
            </a:r>
            <a:r>
              <a:rPr i="1"/>
              <a:t>any</a:t>
            </a:r>
            <a:r>
              <a:rPr/>
              <a:t> Digital Content)</a:t>
            </a:r>
          </a:p>
          <a:p>
            <a:pPr lvl="0" indent="-342900" marL="342900">
              <a:buAutoNum type="arabicPeriod"/>
            </a:pPr>
            <a:r>
              <a:rPr/>
              <a:t>Allows Signed Data Citations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Prequisites</a:t>
            </a:r>
          </a:p>
        </p:txBody>
      </p:sp>
      <p:sp>
        <p:nvSpPr>
          <p:cNvPr id="3" name="Content Placeholder 2"/>
          <p:cNvSpPr>
            <a:spLocks noGrp="1"/>
          </p:cNvSpPr>
          <p:nvPr>
            <p:ph idx="1"/>
          </p:nvPr>
        </p:nvSpPr>
        <p:spPr/>
        <p:txBody>
          <a:bodyPr/>
          <a:lstStyle/>
          <a:p>
            <a:pPr lvl="0" indent="-342900" marL="342900">
              <a:buAutoNum type="arabicPeriod"/>
            </a:pPr>
            <a:r>
              <a:rPr/>
              <a:t>Familiarity with </a:t>
            </a:r>
            <a:r>
              <a:rPr>
                <a:hlinkClick r:id="rId2"/>
              </a:rPr>
              <a:t>Unix Shell</a:t>
            </a:r>
          </a:p>
          <a:p>
            <a:pPr lvl="0" indent="-342900" marL="342900">
              <a:buAutoNum type="arabicPeriod"/>
            </a:pPr>
            <a:r>
              <a:rPr/>
              <a:t>Access to a computer with some Unix Shell</a:t>
            </a:r>
          </a:p>
          <a:p>
            <a:pPr lvl="0" indent="-342900" marL="342900">
              <a:buAutoNum type="arabicPeriod"/>
            </a:pPr>
            <a:r>
              <a:rPr/>
              <a:t>Install Preston </a:t>
            </a:r>
            <a:r>
              <a:rPr baseline="30000">
                <a:hlinkClick r:id="rId3" action="ppaction://hlinksldjump"/>
              </a:rPr>
              <a:t>2</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Check Preston Version</a:t>
            </a:r>
          </a:p>
        </p:txBody>
      </p:sp>
      <p:sp>
        <p:nvSpPr>
          <p:cNvPr id="3" name="Content Placeholder 2"/>
          <p:cNvSpPr>
            <a:spLocks noGrp="1"/>
          </p:cNvSpPr>
          <p:nvPr>
            <p:ph idx="1"/>
          </p:nvPr>
        </p:nvSpPr>
        <p:spPr/>
        <p:txBody>
          <a:bodyPr/>
          <a:lstStyle/>
          <a:p>
            <a:pPr lvl="0" indent="0" marL="0">
              <a:buNone/>
            </a:pPr>
            <a:r>
              <a:rPr/>
              <a:t>run</a:t>
            </a:r>
          </a:p>
          <a:p>
            <a:pPr lvl="0" indent="0">
              <a:buNone/>
            </a:pPr>
            <a:r>
              <a:rPr>
                <a:latin typeface="Courier"/>
              </a:rPr>
              <a:t>preston </a:t>
            </a:r>
            <a:r>
              <a:rPr>
                <a:solidFill>
                  <a:srgbClr val="7D9029"/>
                </a:solidFill>
                <a:latin typeface="Courier"/>
              </a:rPr>
              <a:t>--version</a:t>
            </a:r>
          </a:p>
          <a:p>
            <a:pPr lvl="0" indent="0" marL="0">
              <a:buNone/>
            </a:pPr>
            <a:r>
              <a:rPr/>
              <a:t>and verify that this produces something like:</a:t>
            </a:r>
          </a:p>
          <a:p>
            <a:pPr lvl="0" indent="0">
              <a:buNone/>
            </a:pPr>
            <a:r>
              <a:rPr>
                <a:latin typeface="Courier"/>
              </a:rPr>
              <a:t>0.11.0</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Say Hi and Version It</a:t>
            </a:r>
          </a:p>
        </p:txBody>
      </p:sp>
      <p:sp>
        <p:nvSpPr>
          <p:cNvPr id="3" name="Content Placeholder 2"/>
          <p:cNvSpPr>
            <a:spLocks noGrp="1"/>
          </p:cNvSpPr>
          <p:nvPr>
            <p:ph idx="1"/>
          </p:nvPr>
        </p:nvSpPr>
        <p:spPr/>
        <p:txBody>
          <a:bodyPr/>
          <a:lstStyle/>
          <a:p>
            <a:pPr lvl="0" indent="0" marL="0">
              <a:buNone/>
            </a:pPr>
            <a:r>
              <a:rPr/>
              <a:t>Copy and paste this into your commandline.</a:t>
            </a:r>
          </a:p>
          <a:p>
            <a:pPr lvl="0" indent="0">
              <a:buNone/>
            </a:pPr>
            <a:r>
              <a:rPr>
                <a:latin typeface="Courier"/>
              </a:rPr>
              <a:t>mkdir -p some/empty-directory
cd some/empty-directory
echo hi there! | preston track --algo md5 | grep hasVersion | preston cat </a:t>
            </a:r>
          </a:p>
          <a:p>
            <a:pPr lvl="0" indent="0" marL="0">
              <a:buNone/>
            </a:pPr>
            <a:r>
              <a:rPr/>
              <a:t>which should produce…</a:t>
            </a:r>
          </a:p>
          <a:p>
            <a:pPr lvl="0" indent="0">
              <a:buNone/>
            </a:pPr>
            <a:r>
              <a:rPr>
                <a:latin typeface="Courier"/>
              </a:rPr>
              <a:t>hey there!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I.1 Say Hi and Version It - Step By Step</a:t>
            </a:r>
          </a:p>
        </p:txBody>
      </p:sp>
      <p:sp>
        <p:nvSpPr>
          <p:cNvPr id="3" name="Content Placeholder 2"/>
          <p:cNvSpPr>
            <a:spLocks noGrp="1"/>
          </p:cNvSpPr>
          <p:nvPr>
            <p:ph idx="1"/>
          </p:nvPr>
        </p:nvSpPr>
        <p:spPr/>
        <p:txBody>
          <a:bodyPr/>
          <a:lstStyle/>
          <a:p>
            <a:pPr lvl="0" indent="0">
              <a:buNone/>
            </a:pPr>
            <a:r>
              <a:rPr>
                <a:latin typeface="Courier"/>
              </a:rPr>
              <a:t>echo hi there!</a:t>
            </a:r>
          </a:p>
          <a:p>
            <a:pPr lvl="0" indent="0" marL="0">
              <a:buNone/>
            </a:pPr>
            <a:r>
              <a:rPr/>
              <a:t>Prints “hi there!” to standard output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I.2 Say Hi and Version It - Step By Step</a:t>
            </a:r>
          </a:p>
        </p:txBody>
      </p:sp>
      <p:sp>
        <p:nvSpPr>
          <p:cNvPr id="3" name="Content Placeholder 2"/>
          <p:cNvSpPr>
            <a:spLocks noGrp="1"/>
          </p:cNvSpPr>
          <p:nvPr>
            <p:ph idx="1"/>
          </p:nvPr>
        </p:nvSpPr>
        <p:spPr/>
        <p:txBody>
          <a:bodyPr/>
          <a:lstStyle/>
          <a:p>
            <a:pPr lvl="0" indent="0">
              <a:buNone/>
            </a:pPr>
            <a:r>
              <a:rPr>
                <a:latin typeface="Courier"/>
              </a:rPr>
              <a:t>echo hi there! | preston track --algo md5</a:t>
            </a:r>
          </a:p>
          <a:p>
            <a:pPr lvl="0" indent="0" marL="0">
              <a:buNone/>
            </a:pPr>
            <a:r>
              <a:rPr/>
              <a:t>Print “hi there!” to output (stdout), then turn this output into input (stdin) of </a:t>
            </a:r>
            <a:r>
              <a:rPr>
                <a:latin typeface="Courier"/>
              </a:rPr>
              <a:t>preston track</a:t>
            </a:r>
            <a:r>
              <a:rPr/>
              <a:t>. So, this sends “hi there!” to preston and versions (or tracks) the input. The output of preston is a machine readable description of what happened and ends with something like:</a:t>
            </a:r>
          </a:p>
          <a:p>
            <a:pPr lvl="0" indent="0">
              <a:buNone/>
            </a:pPr>
            <a:r>
              <a:rPr>
                <a:latin typeface="Courier"/>
              </a:rPr>
              <a:t>&lt;...&gt; &lt;...hasVersion&gt; &lt;hash://md5/75c7e31591354f2c82226aa3eb0267c7&gt; &lt;...&gt; .</a:t>
            </a:r>
          </a:p>
          <a:p>
            <a:pPr lvl="0" indent="0" marL="0">
              <a:buNone/>
            </a:pPr>
            <a:r>
              <a:rPr/>
              <a:t>This preston output, or description, is formatted in </a:t>
            </a:r>
            <a:r>
              <a:rPr>
                <a:hlinkClick r:id="rId2"/>
              </a:rPr>
              <a:t>rdf/nquads</a:t>
            </a:r>
            <a:r>
              <a:rPr/>
              <a:t> and records what content was recorded when and by who. This machine readable description is also known as the Bill of Materials (BOM), manifest, or packing slip, for the tracked content.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I.3 - Say Hi and Version It - Step By Step</a:t>
            </a:r>
          </a:p>
        </p:txBody>
      </p:sp>
      <p:sp>
        <p:nvSpPr>
          <p:cNvPr id="3" name="Content Placeholder 2"/>
          <p:cNvSpPr>
            <a:spLocks noGrp="1"/>
          </p:cNvSpPr>
          <p:nvPr>
            <p:ph idx="1"/>
          </p:nvPr>
        </p:nvSpPr>
        <p:spPr/>
        <p:txBody>
          <a:bodyPr/>
          <a:lstStyle/>
          <a:p>
            <a:pPr lvl="0" indent="0">
              <a:buNone/>
            </a:pPr>
            <a:r>
              <a:rPr>
                <a:latin typeface="Courier"/>
              </a:rPr>
              <a:t>echo hi there! | preston track --algo md5 | grep hasVersion</a:t>
            </a:r>
          </a:p>
          <a:p>
            <a:pPr lvl="0" indent="0" marL="0">
              <a:buNone/>
            </a:pPr>
            <a:r>
              <a:rPr/>
              <a:t>This prints only the part of the BOM that includes “hasVersion” and should look something like:</a:t>
            </a:r>
          </a:p>
          <a:p>
            <a:pPr lvl="0" indent="0">
              <a:buNone/>
            </a:pPr>
            <a:r>
              <a:rPr>
                <a:latin typeface="Courier"/>
              </a:rPr>
              <a:t>&lt;urn:uuid:X&gt; &lt;...hasVersion&gt; &lt;hash://md5/75c7e31591354f2c82226aa3eb0267c7&gt; .</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Step I.4 - Say Hi and Version It - Step By Step</a:t>
            </a:r>
          </a:p>
        </p:txBody>
      </p:sp>
      <p:sp>
        <p:nvSpPr>
          <p:cNvPr id="3" name="Content Placeholder 2"/>
          <p:cNvSpPr>
            <a:spLocks noGrp="1"/>
          </p:cNvSpPr>
          <p:nvPr>
            <p:ph idx="1"/>
          </p:nvPr>
        </p:nvSpPr>
        <p:spPr/>
        <p:txBody>
          <a:bodyPr/>
          <a:lstStyle/>
          <a:p>
            <a:pPr lvl="0" indent="0">
              <a:buNone/>
            </a:pPr>
            <a:r>
              <a:rPr>
                <a:latin typeface="Courier"/>
              </a:rPr>
              <a:t>&lt;urn:uuid:X&gt; &lt;...hasVersion&gt; &lt;hash://md5/75c7e31591354f2c82226aa3eb0267c7&gt; ...</a:t>
            </a:r>
          </a:p>
          <a:p>
            <a:pPr lvl="0" indent="0" marL="0">
              <a:buNone/>
            </a:pPr>
            <a:r>
              <a:rPr/>
              <a:t>This is a statement expressed in rdf/nquad. In this case, it expressed something like: there’s this thing </a:t>
            </a:r>
            <a:r>
              <a:rPr>
                <a:latin typeface="Courier"/>
              </a:rPr>
              <a:t>urn:uuid:X</a:t>
            </a:r>
            <a:r>
              <a:rPr/>
              <a:t> that is associated with content that has a cryptographic hash </a:t>
            </a:r>
            <a:r>
              <a:rPr>
                <a:latin typeface="Courier"/>
              </a:rPr>
              <a:t>hash://md5/75c7e31591354f2c82226aa3eb0267c7</a:t>
            </a:r>
            <a:r>
              <a:rPr/>
              <a:t>. A cryptographic hash is a unique fingerprint derived from the digital content itself. </a:t>
            </a:r>
            <a:r>
              <a:rPr b="1"/>
              <a:t>If the content and the hash algorithm are the same, the fingerprint is always the same.</a:t>
            </a:r>
            <a:r>
              <a:rPr/>
              <a:t> This concept is central to internet security as well as things like cryptocurrencies.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I.5 - Say Hi and Version It - Step By Step</a:t>
            </a:r>
          </a:p>
        </p:txBody>
      </p:sp>
      <p:sp>
        <p:nvSpPr>
          <p:cNvPr id="3" name="Content Placeholder 2"/>
          <p:cNvSpPr>
            <a:spLocks noGrp="1"/>
          </p:cNvSpPr>
          <p:nvPr>
            <p:ph idx="1"/>
          </p:nvPr>
        </p:nvSpPr>
        <p:spPr/>
        <p:txBody>
          <a:bodyPr/>
          <a:lstStyle/>
          <a:p>
            <a:pPr lvl="0" indent="0" marL="0">
              <a:buNone/>
            </a:pPr>
            <a:r>
              <a:rPr/>
              <a:t>Now, we ask Preston to print the versioned content by piping the “hasVersion” statement into ``preston cat```:</a:t>
            </a:r>
          </a:p>
          <a:p>
            <a:pPr lvl="0" indent="0">
              <a:buNone/>
            </a:pPr>
            <a:r>
              <a:rPr>
                <a:latin typeface="Courier"/>
              </a:rPr>
              <a:t>echo hi there! | preston track --algo md5 | grep hasVersion | preston cat</a:t>
            </a:r>
          </a:p>
          <a:p>
            <a:pPr lvl="0" indent="0" marL="0">
              <a:buNone/>
            </a:pPr>
            <a:r>
              <a:rPr/>
              <a:t>to produce . . .</a:t>
            </a:r>
          </a:p>
          <a:p>
            <a:pPr lvl="0" indent="0">
              <a:buNone/>
            </a:pPr>
            <a:r>
              <a:rPr>
                <a:latin typeface="Courier"/>
              </a:rPr>
              <a:t>hi there!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I.6 - Say Hi and Version It - Step By Step</a:t>
            </a:r>
          </a:p>
        </p:txBody>
      </p:sp>
      <p:sp>
        <p:nvSpPr>
          <p:cNvPr id="3" name="Content Placeholder 2"/>
          <p:cNvSpPr>
            <a:spLocks noGrp="1"/>
          </p:cNvSpPr>
          <p:nvPr>
            <p:ph idx="1"/>
          </p:nvPr>
        </p:nvSpPr>
        <p:spPr/>
        <p:txBody>
          <a:bodyPr/>
          <a:lstStyle/>
          <a:p>
            <a:pPr lvl="0" indent="0" marL="0">
              <a:buNone/>
            </a:pPr>
            <a:r>
              <a:rPr/>
              <a:t>Now that we’ve versioned saying hi, we can print the content using</a:t>
            </a:r>
          </a:p>
          <a:p>
            <a:pPr lvl="0" indent="0">
              <a:buNone/>
            </a:pPr>
            <a:r>
              <a:rPr>
                <a:latin typeface="Courier"/>
              </a:rPr>
              <a:t>preston cat hash://md5/75c7e31591354f2c82226aa3eb0267c7</a:t>
            </a:r>
          </a:p>
          <a:p>
            <a:pPr lvl="0" indent="0" marL="0">
              <a:buNone/>
            </a:pPr>
            <a:r>
              <a:rPr/>
              <a:t>to produce …</a:t>
            </a:r>
          </a:p>
          <a:p>
            <a:pPr lvl="0" indent="0">
              <a:buNone/>
            </a:pPr>
            <a:r>
              <a:rPr>
                <a:latin typeface="Courier"/>
              </a:rPr>
              <a:t>hi there!</a:t>
            </a:r>
          </a:p>
          <a:p>
            <a:pPr lvl="0" indent="0" marL="0">
              <a:buNone/>
            </a:pPr>
            <a:r>
              <a:rPr/>
              <a:t>This suggests that Preston </a:t>
            </a:r>
            <a:r>
              <a:rPr i="1"/>
              <a:t>thinks</a:t>
            </a:r>
            <a:r>
              <a:rPr/>
              <a:t> that </a:t>
            </a:r>
            <a:r>
              <a:rPr>
                <a:latin typeface="Courier"/>
              </a:rPr>
              <a:t>hash://md5/75c7e31591354f2c82226aa3eb0267c7</a:t>
            </a:r>
            <a:r>
              <a:rPr/>
              <a:t> is the cryptographic hash of </a:t>
            </a:r>
            <a:r>
              <a:rPr>
                <a:latin typeface="Courier"/>
              </a:rPr>
              <a:t>hi there!</a:t>
            </a:r>
            <a:r>
              <a:rPr/>
              <a:t>. And . . .</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I.7 - Say Hi and Version It - Step By Step</a:t>
            </a:r>
          </a:p>
        </p:txBody>
      </p:sp>
      <p:sp>
        <p:nvSpPr>
          <p:cNvPr id="3" name="Content Placeholder 2"/>
          <p:cNvSpPr>
            <a:spLocks noGrp="1"/>
          </p:cNvSpPr>
          <p:nvPr>
            <p:ph idx="1"/>
          </p:nvPr>
        </p:nvSpPr>
        <p:spPr/>
        <p:txBody>
          <a:bodyPr/>
          <a:lstStyle/>
          <a:p>
            <a:pPr lvl="0" indent="0" marL="0">
              <a:buNone/>
            </a:pPr>
            <a:r>
              <a:rPr/>
              <a:t>If you know the fingerprint of content (e.g., </a:t>
            </a:r>
            <a:r>
              <a:rPr>
                <a:latin typeface="Courier"/>
              </a:rPr>
              <a:t>hash://md5/75c7e31591354f2c82226aa3eb0267c7</a:t>
            </a:r>
            <a:r>
              <a:rPr/>
              <a:t>), you can use it to ask for what </a:t>
            </a:r>
            <a:r>
              <a:rPr i="1"/>
              <a:t>exactly</a:t>
            </a:r>
            <a:r>
              <a:rPr/>
              <a:t> what you want. And, on getting a result, you can </a:t>
            </a:r>
            <a:r>
              <a:rPr i="1"/>
              <a:t>independently</a:t>
            </a:r>
            <a:r>
              <a:rPr/>
              <a:t> verify that this is the case using some commonly available cryptographic hash calculators like </a:t>
            </a:r>
            <a:r>
              <a:rPr>
                <a:latin typeface="Courier"/>
              </a:rPr>
              <a:t>md5sum</a:t>
            </a:r>
            <a:r>
              <a:rPr/>
              <a:t> (linux) or </a:t>
            </a:r>
            <a:r>
              <a:rPr>
                <a:latin typeface="Courier"/>
              </a:rPr>
              <a:t>md5</a:t>
            </a:r>
            <a:r>
              <a:rPr/>
              <a:t> (Mac). These calculators are readily available as they are central to internet security and other core applications.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I.7 - Say Hi and Version It Continued…</a:t>
            </a:r>
          </a:p>
        </p:txBody>
      </p:sp>
      <p:sp>
        <p:nvSpPr>
          <p:cNvPr id="3" name="Content Placeholder 2"/>
          <p:cNvSpPr>
            <a:spLocks noGrp="1"/>
          </p:cNvSpPr>
          <p:nvPr>
            <p:ph idx="1"/>
          </p:nvPr>
        </p:nvSpPr>
        <p:spPr/>
        <p:txBody>
          <a:bodyPr/>
          <a:lstStyle/>
          <a:p>
            <a:pPr lvl="0" indent="0">
              <a:buNone/>
            </a:pPr>
            <a:r>
              <a:rPr>
                <a:latin typeface="Courier"/>
              </a:rPr>
              <a:t>preston cat hash://md5/75c7e31591354f2c82226aa3eb0267c7 | md5sum</a:t>
            </a:r>
          </a:p>
          <a:p>
            <a:pPr lvl="0" indent="0" marL="0">
              <a:buNone/>
            </a:pPr>
            <a:r>
              <a:rPr/>
              <a:t>produces:</a:t>
            </a:r>
          </a:p>
          <a:p>
            <a:pPr lvl="0" indent="0">
              <a:buNone/>
            </a:pPr>
            <a:r>
              <a:rPr>
                <a:latin typeface="Courier"/>
              </a:rPr>
              <a:t>75c7e31591354f2c82226aa3eb0267c7  -</a:t>
            </a:r>
          </a:p>
          <a:p>
            <a:pPr lvl="0" indent="0" marL="0">
              <a:buNone/>
            </a:pPr>
            <a:r>
              <a:rPr/>
              <a:t>Showing that an independent tool </a:t>
            </a:r>
            <a:r>
              <a:rPr>
                <a:latin typeface="Courier"/>
              </a:rPr>
              <a:t>md5sum</a:t>
            </a:r>
            <a:r>
              <a:rPr/>
              <a:t> verified that the content you asked for is the content you got!</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I - Takeaways</a:t>
            </a:r>
          </a:p>
        </p:txBody>
      </p:sp>
      <p:sp>
        <p:nvSpPr>
          <p:cNvPr id="3" name="Content Placeholder 2"/>
          <p:cNvSpPr>
            <a:spLocks noGrp="1"/>
          </p:cNvSpPr>
          <p:nvPr>
            <p:ph idx="1"/>
          </p:nvPr>
        </p:nvSpPr>
        <p:spPr/>
        <p:txBody>
          <a:bodyPr/>
          <a:lstStyle/>
          <a:p>
            <a:pPr lvl="0"/>
            <a:r>
              <a:rPr/>
              <a:t>Preston tracks, versions and packages digital content</a:t>
            </a:r>
          </a:p>
          <a:p>
            <a:pPr lvl="0"/>
            <a:r>
              <a:rPr/>
              <a:t>Cryptographic hashes are unique digital fingerprints for digital content.</a:t>
            </a:r>
          </a:p>
          <a:p>
            <a:pPr lvl="0"/>
            <a:r>
              <a:rPr/>
              <a:t>Cryptographic hashes can be generated independently using commonly available tools.</a:t>
            </a:r>
          </a:p>
          <a:p>
            <a:pPr lvl="0"/>
            <a:r>
              <a:rPr/>
              <a:t>Cryptographic hashes enable secure citation of digital content</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Up Next</a:t>
            </a:r>
          </a:p>
        </p:txBody>
      </p:sp>
      <p:sp>
        <p:nvSpPr>
          <p:cNvPr id="3" name="Content Placeholder 2"/>
          <p:cNvSpPr>
            <a:spLocks noGrp="1"/>
          </p:cNvSpPr>
          <p:nvPr>
            <p:ph idx="1"/>
          </p:nvPr>
        </p:nvSpPr>
        <p:spPr/>
        <p:txBody>
          <a:bodyPr/>
          <a:lstStyle/>
          <a:p>
            <a:pPr lvl="0"/>
            <a:r>
              <a:rPr/>
              <a:t>Review BatLit Datapaper</a:t>
            </a:r>
          </a:p>
          <a:p>
            <a:pPr lvl="0"/>
            <a:r>
              <a:rPr/>
              <a:t>Create a Zotero Group for Testing</a:t>
            </a:r>
          </a:p>
          <a:p>
            <a:pPr lvl="0"/>
            <a:r>
              <a:rPr/>
              <a:t>Track the Zotero Test Group using Preston</a:t>
            </a:r>
          </a:p>
          <a:p>
            <a:pPr lvl="0"/>
            <a:r>
              <a:rPr/>
              <a:t>Create a Zenodo Test Community on Zenodo Sandbox</a:t>
            </a:r>
          </a:p>
          <a:p>
            <a:pPr lvl="0"/>
            <a:r>
              <a:rPr/>
              <a:t>Publish the Zotero Test Group to the Zenodo Test Community</a:t>
            </a:r>
          </a:p>
          <a:p>
            <a:pPr lvl="0"/>
            <a:r>
              <a:rPr/>
              <a:t>Once you feel comfortable, repeat the process with the “real” Zotero BatLit Group and associated Zenodo BatLit Community</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II - Creating a Snapshot of a Zotero Literature Group</a:t>
            </a:r>
          </a:p>
        </p:txBody>
      </p:sp>
      <p:sp>
        <p:nvSpPr>
          <p:cNvPr id="3" name="Content Placeholder 2"/>
          <p:cNvSpPr>
            <a:spLocks noGrp="1"/>
          </p:cNvSpPr>
          <p:nvPr>
            <p:ph idx="1"/>
          </p:nvPr>
        </p:nvSpPr>
        <p:spPr/>
        <p:txBody>
          <a:bodyPr/>
          <a:lstStyle/>
          <a:p>
            <a:pPr lvl="0" indent="0" marL="0">
              <a:buNone/>
            </a:pPr>
            <a:r>
              <a:rPr/>
              <a:t>After covering the Preston basics, we now explore how to create a versioned snapshot of a Zotero Literature Collection.</a:t>
            </a:r>
          </a:p>
          <a:p>
            <a:pPr lvl="0" indent="0" marL="0">
              <a:buNone/>
            </a:pPr>
            <a:r>
              <a:rPr/>
              <a:t>First, we create a Zotero Group for Testing, then we track the Zotero Test Group using Preston</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Step II.1- Create A Zotero Group for Testing</a:t>
            </a:r>
          </a:p>
        </p:txBody>
      </p:sp>
      <p:sp>
        <p:nvSpPr>
          <p:cNvPr id="3" name="Content Placeholder 2"/>
          <p:cNvSpPr>
            <a:spLocks noGrp="1"/>
          </p:cNvSpPr>
          <p:nvPr>
            <p:ph idx="1"/>
          </p:nvPr>
        </p:nvSpPr>
        <p:spPr/>
        <p:txBody>
          <a:bodyPr/>
          <a:lstStyle/>
          <a:p>
            <a:pPr lvl="0" indent="-342900" marL="342900">
              <a:buAutoNum type="arabicPeriod"/>
            </a:pPr>
            <a:r>
              <a:rPr/>
              <a:t>go to https://zotero.org</a:t>
            </a:r>
          </a:p>
          <a:p>
            <a:pPr lvl="0" indent="-342900" marL="342900">
              <a:buAutoNum type="arabicPeriod"/>
            </a:pPr>
            <a:r>
              <a:rPr/>
              <a:t>login using your credentials</a:t>
            </a:r>
          </a:p>
          <a:p>
            <a:pPr lvl="0" indent="-342900" marL="342900">
              <a:buAutoNum type="arabicPeriod"/>
            </a:pPr>
            <a:r>
              <a:rPr/>
              <a:t>create a new empty private Zotero group for testing</a:t>
            </a:r>
          </a:p>
          <a:p>
            <a:pPr lvl="0" indent="-342900" marL="342900">
              <a:buAutoNum type="arabicPeriod"/>
            </a:pPr>
            <a:r>
              <a:rPr/>
              <a:t>pick two pdfs</a:t>
            </a:r>
          </a:p>
          <a:p>
            <a:pPr lvl="0" indent="-342900" marL="342900">
              <a:buAutoNum type="arabicPeriod"/>
            </a:pPr>
            <a:r>
              <a:rPr/>
              <a:t>import the two pdfs into your Zotero Test Group</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II.2 - Get your Zotero API Key</a:t>
            </a:r>
          </a:p>
        </p:txBody>
      </p:sp>
      <p:sp>
        <p:nvSpPr>
          <p:cNvPr id="3" name="Content Placeholder 2"/>
          <p:cNvSpPr>
            <a:spLocks noGrp="1"/>
          </p:cNvSpPr>
          <p:nvPr>
            <p:ph idx="1"/>
          </p:nvPr>
        </p:nvSpPr>
        <p:spPr/>
        <p:txBody>
          <a:bodyPr/>
          <a:lstStyle/>
          <a:p>
            <a:pPr lvl="0" indent="0" marL="0">
              <a:buNone/>
            </a:pPr>
            <a:r>
              <a:rPr/>
              <a:t>In order to talk to Zotero using Preston (or any programmatic method) you need a Zotero Web API Key.</a:t>
            </a:r>
          </a:p>
          <a:p>
            <a:pPr lvl="0" indent="-342900" marL="342900">
              <a:buAutoNum type="arabicPeriod"/>
            </a:pPr>
            <a:r>
              <a:rPr/>
              <a:t>search Zotero documentation on getting an API Key</a:t>
            </a:r>
          </a:p>
          <a:p>
            <a:pPr lvl="1" indent="0" marL="342900">
              <a:buNone/>
            </a:pPr>
            <a:r>
              <a:rPr/>
              <a:t>At time of writing, 2025-08-28, the following web pages</a:t>
            </a:r>
          </a:p>
          <a:p>
            <a:pPr lvl="1" indent="0" marL="342900">
              <a:buNone/>
            </a:pPr>
            <a:r>
              <a:rPr/>
              <a:t>https://www.zotero.org/settings/keys</a:t>
            </a:r>
          </a:p>
          <a:p>
            <a:pPr lvl="1" indent="0" marL="342900">
              <a:buNone/>
            </a:pPr>
            <a:r>
              <a:rPr/>
              <a:t>https://www.zotero.org/settings/security#applications</a:t>
            </a:r>
          </a:p>
          <a:p>
            <a:pPr lvl="0" indent="-342900" marL="342900">
              <a:buAutoNum type="arabicPeriod"/>
            </a:pPr>
            <a:r>
              <a:rPr/>
              <a:t>Get the API key and record it in a safe location. An API key is a combation of letters and number e.g., </a:t>
            </a:r>
            <a:r>
              <a:rPr>
                <a:latin typeface="Courier"/>
              </a:rPr>
              <a:t>12345678</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Step II.3 - Take a snapshot of your Zotero Collection Using Preston</a:t>
            </a:r>
          </a:p>
        </p:txBody>
      </p:sp>
      <p:sp>
        <p:nvSpPr>
          <p:cNvPr id="3" name="Content Placeholder 2"/>
          <p:cNvSpPr>
            <a:spLocks noGrp="1"/>
          </p:cNvSpPr>
          <p:nvPr>
            <p:ph idx="1"/>
          </p:nvPr>
        </p:nvSpPr>
        <p:spPr/>
        <p:txBody>
          <a:bodyPr/>
          <a:lstStyle/>
          <a:p>
            <a:pPr lvl="0" indent="0" marL="0">
              <a:buNone/>
            </a:pPr>
            <a:r>
              <a:rPr/>
              <a:t>Preston has built in functionality to take a snapshot of a Zotero Collection.</a:t>
            </a:r>
          </a:p>
          <a:p>
            <a:pPr lvl="0" indent="-342900" marL="342900">
              <a:buAutoNum type="arabicPeriod"/>
            </a:pPr>
            <a:r>
              <a:rPr/>
              <a:t>open a command-line terminal</a:t>
            </a:r>
          </a:p>
          <a:p>
            <a:pPr lvl="0" indent="-342900" marL="342900">
              <a:buAutoNum type="arabicPeriod"/>
            </a:pPr>
            <a:r>
              <a:rPr/>
              <a:t>go to a newly created new directory (e.g., </a:t>
            </a:r>
            <a:r>
              <a:rPr>
                <a:latin typeface="Courier"/>
              </a:rPr>
              <a:t>mkdir batlit-test; cd batlit-test</a:t>
            </a:r>
            <a:r>
              <a:rPr/>
              <a:t>)</a:t>
            </a:r>
          </a:p>
          <a:p>
            <a:pPr lvl="0" indent="-342900" marL="342900">
              <a:buAutoNum type="arabicPeriod"/>
            </a:pPr>
            <a:r>
              <a:rPr/>
              <a:t>track the Zotero group by running the following command:</a:t>
            </a:r>
          </a:p>
          <a:p>
            <a:pPr lvl="0" indent="0">
              <a:buNone/>
            </a:pPr>
            <a:r>
              <a:rPr>
                <a:latin typeface="Courier"/>
              </a:rPr>
              <a:t>export ZOTERO_TOKEN=[SECRET]
preston track --algo md5 [Zotero Group URL]</a:t>
            </a:r>
          </a:p>
          <a:p>
            <a:pPr lvl="0" indent="0" marL="0">
              <a:buNone/>
            </a:pPr>
            <a:r>
              <a:rPr/>
              <a:t>(Tokens are a sequence of numbers and letters, e.g. </a:t>
            </a:r>
            <a:r>
              <a:rPr>
                <a:latin typeface="Courier"/>
              </a:rPr>
              <a:t>ziAJAGw4t5sAaP9APRvBYjkX</a:t>
            </a:r>
            <a:r>
              <a:rPr/>
              <a:t>) (Zotero Group URL e.g., https://www.zotero.org/groups/6217595 :warning: make sure to use the numeric group id and </a:t>
            </a:r>
            <a:r>
              <a:rPr i="1"/>
              <a:t>not</a:t>
            </a:r>
            <a:r>
              <a:rPr/>
              <a:t> the group alias - so, instead of </a:t>
            </a:r>
            <a:r>
              <a:rPr>
                <a:latin typeface="Courier"/>
              </a:rPr>
              <a:t>https://www.zotero.org/groups/bat_literature_project</a:t>
            </a:r>
            <a:r>
              <a:rPr/>
              <a:t> use </a:t>
            </a:r>
            <a:r>
              <a:rPr>
                <a:latin typeface="Courier"/>
              </a:rPr>
              <a:t>https://www.zotero.org/groups/5435545</a:t>
            </a:r>
            <a:r>
              <a:rPr/>
              <a:t> :warning:)</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II.3.1 A sorted list of metadata for most recent Bill of Materials</a:t>
            </a:r>
          </a:p>
        </p:txBody>
      </p:sp>
      <p:sp>
        <p:nvSpPr>
          <p:cNvPr id="3" name="Content Placeholder 2"/>
          <p:cNvSpPr>
            <a:spLocks noGrp="1"/>
          </p:cNvSpPr>
          <p:nvPr>
            <p:ph idx="1"/>
          </p:nvPr>
        </p:nvSpPr>
        <p:spPr/>
        <p:txBody>
          <a:bodyPr/>
          <a:lstStyle/>
          <a:p>
            <a:pPr lvl="0" indent="0" marL="0">
              <a:buNone/>
            </a:pPr>
            <a:r>
              <a:rPr/>
              <a:t>Create a sorted list metadata statement from the Zotero group for the </a:t>
            </a:r>
            <a:r>
              <a:rPr i="1"/>
              <a:t>most recent</a:t>
            </a:r>
            <a:r>
              <a:rPr/>
              <a:t> Bill of Materials, and list their content</a:t>
            </a:r>
          </a:p>
          <a:p>
            <a:pPr lvl="0" indent="0">
              <a:buNone/>
            </a:pPr>
            <a:r>
              <a:rPr>
                <a:latin typeface="Courier"/>
              </a:rPr>
              <a:t>preston head --algo md5\
 | preston cat\
 | grep hasVersion\
 | grep "https://api.zotero.org/groups/[Zotero group number]/items/"\ 
 | grep -v "file/view"\
 | sort\
 | preston cat\
 &gt; metadata-before-change.txt</a:t>
            </a:r>
          </a:p>
          <a:p>
            <a:pPr lvl="0" indent="0" marL="0">
              <a:buNone/>
            </a:pPr>
            <a:r>
              <a:rPr/>
              <a:t>(replace </a:t>
            </a:r>
            <a:r>
              <a:rPr>
                <a:latin typeface="Courier"/>
              </a:rPr>
              <a:t>[Zotero group number]</a:t>
            </a:r>
            <a:r>
              <a:rPr/>
              <a:t> with the number found in URL, make sure to remove brackets, e.g., https://www.zotero.org/groups/</a:t>
            </a:r>
            <a:r>
              <a:rPr b="1"/>
              <a:t>6217595</a:t>
            </a:r>
            <a:r>
              <a:rPr/>
              <a:t>)</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II.4 Make a change and create a new snapshot</a:t>
            </a:r>
          </a:p>
        </p:txBody>
      </p:sp>
      <p:sp>
        <p:nvSpPr>
          <p:cNvPr id="3" name="Content Placeholder 2"/>
          <p:cNvSpPr>
            <a:spLocks noGrp="1"/>
          </p:cNvSpPr>
          <p:nvPr>
            <p:ph idx="1"/>
          </p:nvPr>
        </p:nvSpPr>
        <p:spPr/>
        <p:txBody>
          <a:bodyPr/>
          <a:lstStyle/>
          <a:p>
            <a:pPr lvl="0" indent="-342900" marL="342900">
              <a:buAutoNum type="arabicPeriod"/>
            </a:pPr>
            <a:r>
              <a:rPr/>
              <a:t>Change the title of one of the publication in your test Zotero Group</a:t>
            </a:r>
          </a:p>
          <a:p>
            <a:pPr lvl="0" indent="-342900" marL="342900">
              <a:buAutoNum type="arabicPeriod"/>
            </a:pPr>
            <a:r>
              <a:rPr/>
              <a:t>Make a new snapshot version by re-running:</a:t>
            </a:r>
          </a:p>
          <a:p>
            <a:pPr lvl="0" indent="0">
              <a:buNone/>
            </a:pPr>
            <a:r>
              <a:rPr>
                <a:latin typeface="Courier"/>
              </a:rPr>
              <a:t>preston track --algo md5 [Zotero Group from URL]</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II.4.1 A sorted list of metadata for newly updated Bill of Materials</a:t>
            </a:r>
          </a:p>
        </p:txBody>
      </p:sp>
      <p:sp>
        <p:nvSpPr>
          <p:cNvPr id="3" name="Content Placeholder 2"/>
          <p:cNvSpPr>
            <a:spLocks noGrp="1"/>
          </p:cNvSpPr>
          <p:nvPr>
            <p:ph idx="1"/>
          </p:nvPr>
        </p:nvSpPr>
        <p:spPr/>
        <p:txBody>
          <a:bodyPr/>
          <a:lstStyle/>
          <a:p>
            <a:pPr lvl="0" indent="0" marL="0">
              <a:buNone/>
            </a:pPr>
            <a:r>
              <a:rPr/>
              <a:t>Create a sorted list metadata statement from the Zotero group for the newly updated Bill of Materials, and list their content</a:t>
            </a:r>
          </a:p>
          <a:p>
            <a:pPr lvl="0" indent="0">
              <a:buNone/>
            </a:pPr>
            <a:r>
              <a:rPr>
                <a:latin typeface="Courier"/>
              </a:rPr>
              <a:t>preston head --algo md5\
 | preston cat\
 | grep hasVersion\
 | grep "https://api.zotero.org/groups/[Zotero group number]/items/"\ 
 | grep -v "file/view"\
 | sort\
 | preston cat\
 &gt; metadata-after-change.txt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II.5 Compare changes in metadata across snapshot versions</a:t>
            </a:r>
          </a:p>
        </p:txBody>
      </p:sp>
      <p:sp>
        <p:nvSpPr>
          <p:cNvPr id="3" name="Content Placeholder 2"/>
          <p:cNvSpPr>
            <a:spLocks noGrp="1"/>
          </p:cNvSpPr>
          <p:nvPr>
            <p:ph idx="1"/>
          </p:nvPr>
        </p:nvSpPr>
        <p:spPr/>
        <p:txBody>
          <a:bodyPr/>
          <a:lstStyle/>
          <a:p>
            <a:pPr lvl="0" indent="0" marL="0">
              <a:buNone/>
            </a:pPr>
            <a:r>
              <a:rPr/>
              <a:t>After making a change in a Zotero records, and creating a new snapshot, we can compare the different versions of Bill of Materials associated with these snapshots.</a:t>
            </a:r>
          </a:p>
          <a:p>
            <a:pPr lvl="0" indent="0" marL="0">
              <a:buNone/>
            </a:pPr>
            <a:r>
              <a:rPr/>
              <a:t>In order to do so, we compare (II.3.1) the sorted list of all metadata for associated with an initial Bill of Materials and (II.4.1) a sorted list of all metadata associated with a Bill of Materials after a change.</a:t>
            </a:r>
          </a:p>
          <a:p>
            <a:pPr lvl="0" indent="0" marL="0">
              <a:buNone/>
            </a:pPr>
            <a:r>
              <a:rPr/>
              <a:t>Next, (II.5.1) we compare the differences between these metadata snapshots.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II.5.1 Compare changes across metadata associated with two versions of Bill of Materials</a:t>
            </a:r>
          </a:p>
        </p:txBody>
      </p:sp>
      <p:sp>
        <p:nvSpPr>
          <p:cNvPr id="3" name="Content Placeholder 2"/>
          <p:cNvSpPr>
            <a:spLocks noGrp="1"/>
          </p:cNvSpPr>
          <p:nvPr>
            <p:ph idx="1"/>
          </p:nvPr>
        </p:nvSpPr>
        <p:spPr/>
        <p:txBody>
          <a:bodyPr/>
          <a:lstStyle/>
          <a:p>
            <a:pPr lvl="0" indent="0" marL="0">
              <a:buNone/>
            </a:pPr>
            <a:r>
              <a:rPr/>
              <a:t>Now that we have the Zotero metadata for the most recent Bill of Materials, as well as a previous version, we can use </a:t>
            </a:r>
            <a:r>
              <a:rPr>
                <a:hlinkClick r:id="rId2"/>
              </a:rPr>
              <a:t>diff</a:t>
            </a:r>
            <a:r>
              <a:rPr/>
              <a:t> to compare the differences.</a:t>
            </a:r>
          </a:p>
          <a:p>
            <a:pPr lvl="0" indent="0">
              <a:buNone/>
            </a:pPr>
            <a:r>
              <a:rPr>
                <a:latin typeface="Courier"/>
              </a:rPr>
              <a:t> diff metadata-before-change.txt metadata-after-change.txt</a:t>
            </a:r>
          </a:p>
          <a:p>
            <a:pPr lvl="0" indent="0" marL="0">
              <a:buNone/>
            </a:pPr>
            <a:r>
              <a:rPr/>
              <a:t>to produce a result like</a:t>
            </a:r>
          </a:p>
          <a:p>
            <a:pPr lvl="0" indent="0">
              <a:buNone/>
            </a:pPr>
            <a:r>
              <a:rPr>
                <a:latin typeface="Courier"/>
              </a:rPr>
              <a:t>[...]</a:t>
            </a:r>
            <a:br/>
            <a:r>
              <a:rPr>
                <a:solidFill>
                  <a:srgbClr val="902000"/>
                </a:solidFill>
                <a:latin typeface="Courier"/>
              </a:rPr>
              <a:t>119c119</a:t>
            </a:r>
            <a:br/>
            <a:r>
              <a:rPr>
                <a:solidFill>
                  <a:srgbClr val="4070A0"/>
                </a:solidFill>
                <a:latin typeface="Courier"/>
              </a:rPr>
              <a:t>&lt;             "title": "Pteropus test",</a:t>
            </a:r>
            <a:br/>
            <a:r>
              <a:rPr b="1">
                <a:solidFill>
                  <a:srgbClr val="007020"/>
                </a:solidFill>
                <a:latin typeface="Courier"/>
              </a:rPr>
              <a:t>---</a:t>
            </a:r>
            <a:br/>
            <a:r>
              <a:rPr>
                <a:solidFill>
                  <a:srgbClr val="19177C"/>
                </a:solidFill>
                <a:latin typeface="Courier"/>
              </a:rPr>
              <a:t>&gt;             "title": "Seasonal roosts and foraging movements of the black flying fox (Pteropus alecto) in the Northern Territory: resource tracking in a landscape mosaic",</a:t>
            </a:r>
            <a:br/>
            <a:r>
              <a:rPr>
                <a:latin typeface="Courier"/>
              </a:rPr>
              <a:t>[...]</a:t>
            </a:r>
          </a:p>
          <a:p>
            <a:pPr lvl="0" indent="0" marL="0">
              <a:buNone/>
            </a:pPr>
            <a:r>
              <a:rPr/>
              <a:t>In this example the title was changed to </a:t>
            </a:r>
            <a:r>
              <a:rPr>
                <a:latin typeface="Courier"/>
              </a:rPr>
              <a:t>Pteropus test</a:t>
            </a:r>
            <a:r>
              <a:rPr/>
              <a:t> and the diff reflects this.</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II - Next Steps</a:t>
            </a:r>
          </a:p>
        </p:txBody>
      </p:sp>
      <p:sp>
        <p:nvSpPr>
          <p:cNvPr id="3" name="Content Placeholder 2"/>
          <p:cNvSpPr>
            <a:spLocks noGrp="1"/>
          </p:cNvSpPr>
          <p:nvPr>
            <p:ph idx="1"/>
          </p:nvPr>
        </p:nvSpPr>
        <p:spPr/>
        <p:txBody>
          <a:bodyPr/>
          <a:lstStyle/>
          <a:p>
            <a:pPr lvl="0"/>
            <a:r>
              <a:rPr/>
              <a:t>Create a Zenodo Test Community on Zenodo Sandbox</a:t>
            </a:r>
          </a:p>
          <a:p>
            <a:pPr lvl="0"/>
            <a:r>
              <a:rPr/>
              <a:t>Publish the Zotero Test Group to the Zenodo Test Community</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III - Deposit a Zotero Snapshot into Zenodo</a:t>
            </a:r>
          </a:p>
        </p:txBody>
      </p:sp>
      <p:sp>
        <p:nvSpPr>
          <p:cNvPr id="3" name="Content Placeholder 2"/>
          <p:cNvSpPr>
            <a:spLocks noGrp="1"/>
          </p:cNvSpPr>
          <p:nvPr>
            <p:ph idx="1"/>
          </p:nvPr>
        </p:nvSpPr>
        <p:spPr/>
        <p:txBody>
          <a:bodyPr/>
          <a:lstStyle/>
          <a:p>
            <a:pPr lvl="0" indent="0" marL="0">
              <a:buNone/>
            </a:pPr>
            <a:r>
              <a:rPr/>
              <a:t>Now that we can make a snapshot of a Zotera group, we’d like to take this snapshot and deposit it into Zenodo. In order to do so, we need to (III.1) create a test Zenodo community in their sandbox (III.2) create a Zenodo API key, and (III.3) upload a snapshot version into Zenodo sandbox using Preston.</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III.1 - Create a test Zenodo community</a:t>
            </a:r>
          </a:p>
        </p:txBody>
      </p:sp>
      <p:sp>
        <p:nvSpPr>
          <p:cNvPr id="3" name="Content Placeholder 2"/>
          <p:cNvSpPr>
            <a:spLocks noGrp="1"/>
          </p:cNvSpPr>
          <p:nvPr>
            <p:ph idx="1"/>
          </p:nvPr>
        </p:nvSpPr>
        <p:spPr/>
        <p:txBody>
          <a:bodyPr/>
          <a:lstStyle/>
          <a:p>
            <a:pPr lvl="0" indent="0" marL="0">
              <a:buNone/>
            </a:pPr>
            <a:r>
              <a:rPr/>
              <a:t>Zenodo provides a sandbox to try their platform and experiment.</a:t>
            </a:r>
          </a:p>
          <a:p>
            <a:pPr lvl="0" indent="-342900" marL="342900">
              <a:buAutoNum type="arabicPeriod"/>
            </a:pPr>
            <a:r>
              <a:rPr/>
              <a:t>go to https://sandbox.zenodo.org</a:t>
            </a:r>
          </a:p>
          <a:p>
            <a:pPr lvl="0" indent="-342900" marL="342900">
              <a:buAutoNum type="arabicPeriod"/>
            </a:pPr>
            <a:r>
              <a:rPr/>
              <a:t>login</a:t>
            </a:r>
          </a:p>
          <a:p>
            <a:pPr lvl="0" indent="-342900" marL="342900">
              <a:buAutoNum type="arabicPeriod"/>
            </a:pPr>
            <a:r>
              <a:rPr/>
              <a:t>create a Zenodo community. Note a community has a name and a id. Note that ids are lowercase only (e.g., bat-lit-2025-05-05).</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III.2 - Generate A Zenodo API Token</a:t>
            </a:r>
          </a:p>
        </p:txBody>
      </p:sp>
      <p:sp>
        <p:nvSpPr>
          <p:cNvPr id="3" name="Content Placeholder 2"/>
          <p:cNvSpPr>
            <a:spLocks noGrp="1"/>
          </p:cNvSpPr>
          <p:nvPr>
            <p:ph idx="1"/>
          </p:nvPr>
        </p:nvSpPr>
        <p:spPr/>
        <p:txBody>
          <a:bodyPr/>
          <a:lstStyle/>
          <a:p>
            <a:pPr lvl="0" indent="0" marL="0">
              <a:buNone/>
            </a:pPr>
            <a:r>
              <a:rPr/>
              <a:t>To deposit content into Zenodo programmatically (e.g., using Preston), you need a Zenodo Web API Key / Token.</a:t>
            </a:r>
          </a:p>
          <a:p>
            <a:pPr lvl="0" indent="-342900" marL="342900">
              <a:buAutoNum type="arabicPeriod"/>
            </a:pPr>
            <a:r>
              <a:rPr/>
              <a:t>go to https://sandbox.zenodo.org</a:t>
            </a:r>
          </a:p>
          <a:p>
            <a:pPr lvl="0" indent="-342900" marL="342900">
              <a:buAutoNum type="arabicPeriod"/>
            </a:pPr>
            <a:r>
              <a:rPr/>
              <a:t>select account &gt; applications &gt; personal access token (?) with all options (e.g., write access, publish) enabled</a:t>
            </a:r>
          </a:p>
          <a:p>
            <a:pPr lvl="0" indent="-342900" marL="342900">
              <a:buAutoNum type="arabicPeriod"/>
            </a:pPr>
            <a:r>
              <a:rPr/>
              <a:t>generate a new token (or api key) and record this somewhere safe</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III.3 - Generate Zenodo Metadata for a Zotero Snapshot</a:t>
            </a:r>
          </a:p>
        </p:txBody>
      </p:sp>
      <p:sp>
        <p:nvSpPr>
          <p:cNvPr id="3" name="Content Placeholder 2"/>
          <p:cNvSpPr>
            <a:spLocks noGrp="1"/>
          </p:cNvSpPr>
          <p:nvPr>
            <p:ph idx="1"/>
          </p:nvPr>
        </p:nvSpPr>
        <p:spPr/>
        <p:txBody>
          <a:bodyPr/>
          <a:lstStyle/>
          <a:p>
            <a:pPr lvl="0" indent="-342900" marL="342900">
              <a:buAutoNum type="arabicPeriod"/>
            </a:pPr>
            <a:r>
              <a:rPr/>
              <a:t>open a command-line terminal</a:t>
            </a:r>
          </a:p>
          <a:p>
            <a:pPr lvl="0" indent="-342900" marL="342900">
              <a:buAutoNum type="arabicPeriod"/>
            </a:pPr>
            <a:r>
              <a:rPr/>
              <a:t>generate Zenodo metadata for a specific snapshot version</a:t>
            </a:r>
          </a:p>
          <a:p>
            <a:pPr lvl="0" indent="0">
              <a:buNone/>
            </a:pPr>
            <a:r>
              <a:rPr>
                <a:latin typeface="Courier"/>
              </a:rPr>
              <a:t>preston head --algo md5\
 | preston cat\
 | preston zotero-stream --algo md5 --community "[your community id]"\
 &gt; zenodo.json</a:t>
            </a:r>
          </a:p>
          <a:p>
            <a:pPr lvl="0" indent="0" marL="0">
              <a:buNone/>
            </a:pPr>
            <a:r>
              <a:rPr/>
              <a:t>Note: you can find the community id by looking at the browser address bar. E.g., with https://sandbox.zenodo.org/communities/batlit-test-2025-05-05/settings, “batlit-test-2025-05-05” is the community id.</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III.4 - Deposit Zenodo Records</a:t>
            </a:r>
          </a:p>
        </p:txBody>
      </p:sp>
      <p:sp>
        <p:nvSpPr>
          <p:cNvPr id="3" name="Content Placeholder 2"/>
          <p:cNvSpPr>
            <a:spLocks noGrp="1"/>
          </p:cNvSpPr>
          <p:nvPr>
            <p:ph idx="1"/>
          </p:nvPr>
        </p:nvSpPr>
        <p:spPr/>
        <p:txBody>
          <a:bodyPr/>
          <a:lstStyle/>
          <a:p>
            <a:pPr lvl="0" indent="-342900" marL="342900">
              <a:buAutoNum type="arabicPeriod"/>
            </a:pPr>
            <a:r>
              <a:rPr/>
              <a:t>open a command-line terminal</a:t>
            </a:r>
          </a:p>
          <a:p>
            <a:pPr lvl="0" indent="-342900" marL="342900">
              <a:buAutoNum type="arabicPeriod"/>
            </a:pPr>
            <a:r>
              <a:rPr/>
              <a:t>set the evironment variable for Zenodo API access</a:t>
            </a:r>
          </a:p>
          <a:p>
            <a:pPr lvl="0" indent="0">
              <a:buNone/>
            </a:pPr>
            <a:r>
              <a:rPr>
                <a:latin typeface="Courier"/>
              </a:rPr>
              <a:t> export ZENODO_ENDPOINT=https://sandbox.zenodo.org
 export ZENODO_TOKEN=[your secret token]</a:t>
            </a:r>
          </a:p>
          <a:p>
            <a:pPr lvl="0" indent="-342900" marL="342900">
              <a:buAutoNum startAt="3" type="arabicPeriod"/>
            </a:pPr>
            <a:r>
              <a:rPr/>
              <a:t>deposit Zenodo records using the Zenodo metadata</a:t>
            </a:r>
          </a:p>
          <a:p>
            <a:pPr lvl="0" indent="0">
              <a:buNone/>
            </a:pPr>
            <a:r>
              <a:rPr>
                <a:latin typeface="Courier"/>
              </a:rPr>
              <a:t>mkdir -p logs
cat zenodo.json\
 | preston track --algo md5 --data-dir logs/data\
 | preston zenodo --algo md5 --data-dir logs/data \
 --remote file://$PWD/data/ \
 --community "[your community id]"\
 &gt; deposit.log</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IV - Maintenance</a:t>
            </a:r>
          </a:p>
        </p:txBody>
      </p:sp>
      <p:sp>
        <p:nvSpPr>
          <p:cNvPr id="3" name="Content Placeholder 2"/>
          <p:cNvSpPr>
            <a:spLocks noGrp="1"/>
          </p:cNvSpPr>
          <p:nvPr>
            <p:ph idx="1"/>
          </p:nvPr>
        </p:nvSpPr>
        <p:spPr/>
        <p:txBody>
          <a:bodyPr/>
          <a:lstStyle/>
          <a:p>
            <a:pPr lvl="0" indent="0" marL="0">
              <a:buNone/>
            </a:pPr>
            <a:r>
              <a:rPr/>
              <a:t>After initial deposit, metadata in Zotero records may be updated. Also, PDFs associated with a Zotero record may be exchanged with a different one (e.g., an incorrect pdf was associated with some literature record).</a:t>
            </a:r>
          </a:p>
          <a:p>
            <a:pPr lvl="0" indent="0" marL="0">
              <a:buNone/>
            </a:pPr>
            <a:r>
              <a:rPr/>
              <a:t>To update metadata of a Zenodo deposit associated with a Zotero record, you can re-run Step III.4 after including either </a:t>
            </a:r>
            <a:r>
              <a:rPr>
                <a:latin typeface="Courier"/>
              </a:rPr>
              <a:t>--update-metadata-only</a:t>
            </a:r>
            <a:r>
              <a:rPr/>
              <a:t> or </a:t>
            </a:r>
            <a:r>
              <a:rPr>
                <a:latin typeface="Courier"/>
              </a:rPr>
              <a:t>--new-version</a:t>
            </a:r>
            <a:r>
              <a:rPr/>
              <a:t>.</a:t>
            </a:r>
          </a:p>
          <a:p>
            <a:pPr lvl="0" indent="0" marL="0">
              <a:buNone/>
            </a:pPr>
            <a:r>
              <a:rPr/>
              <a:t>With </a:t>
            </a:r>
            <a:r>
              <a:rPr>
                <a:latin typeface="Courier"/>
              </a:rPr>
              <a:t>--update-metadata-only</a:t>
            </a:r>
            <a:r>
              <a:rPr/>
              <a:t> an metadata of an existing Zenodo record is updated with the Zotero record metadata. No new version is created and the pdf attachment is left untouched.</a:t>
            </a:r>
          </a:p>
          <a:p>
            <a:pPr lvl="0" indent="0" marL="0">
              <a:buNone/>
            </a:pPr>
            <a:r>
              <a:rPr/>
              <a:t>With </a:t>
            </a:r>
            <a:r>
              <a:rPr>
                <a:latin typeface="Courier"/>
              </a:rPr>
              <a:t>--new-version</a:t>
            </a:r>
            <a:r>
              <a:rPr/>
              <a:t> a new version of an existing Zenodo record is deposited with updated the Zotero record metadata and the associated pdf in Zotero.</a:t>
            </a:r>
          </a:p>
          <a:p>
            <a:pPr lvl="0" indent="0" marL="0">
              <a:buNone/>
            </a:pPr>
            <a:r>
              <a:rPr/>
              <a:t>Note that Zenodo record metadata is editable, however Zenodo record files are </a:t>
            </a:r>
            <a:r>
              <a:rPr i="1"/>
              <a:t>not</a:t>
            </a:r>
            <a:r>
              <a:rPr/>
              <a:t>.</a:t>
            </a:r>
          </a:p>
          <a:p>
            <a:pPr lvl="0" indent="0" marL="0">
              <a:buNone/>
            </a:pPr>
            <a:r>
              <a:rPr/>
              <a:t>So, when you need to update a pdf associated with a Zotero record, you need to create a </a:t>
            </a:r>
            <a:r>
              <a:rPr>
                <a:latin typeface="Courier"/>
              </a:rPr>
              <a:t>--new-version</a:t>
            </a:r>
            <a:r>
              <a:rPr/>
              <a:t>. This is </a:t>
            </a:r>
            <a:r>
              <a:rPr i="1"/>
              <a:t>not</a:t>
            </a:r>
            <a:r>
              <a:rPr/>
              <a:t> done by default.</a:t>
            </a:r>
          </a:p>
          <a:p>
            <a:pPr lvl="0" indent="0" marL="0">
              <a:buNone/>
            </a:pPr>
            <a:r>
              <a:rPr/>
              <a:t>Default behavior is to not update the associated Zenodo record and skip the deposit.</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IV.1 - Edit Existing Record and Update Metadata</a:t>
            </a:r>
          </a:p>
        </p:txBody>
      </p:sp>
      <p:sp>
        <p:nvSpPr>
          <p:cNvPr id="3" name="Content Placeholder 2"/>
          <p:cNvSpPr>
            <a:spLocks noGrp="1"/>
          </p:cNvSpPr>
          <p:nvPr>
            <p:ph idx="1"/>
          </p:nvPr>
        </p:nvSpPr>
        <p:spPr/>
        <p:txBody>
          <a:bodyPr/>
          <a:lstStyle/>
          <a:p>
            <a:pPr lvl="0" indent="-342900" marL="342900">
              <a:buAutoNum type="arabicPeriod"/>
            </a:pPr>
            <a:r>
              <a:rPr/>
              <a:t>Update metadata for an already deposited Zotero record.</a:t>
            </a:r>
          </a:p>
          <a:p>
            <a:pPr lvl="0" indent="-342900" marL="342900">
              <a:buAutoNum type="arabicPeriod"/>
            </a:pPr>
            <a:r>
              <a:rPr/>
              <a:t>Re-run the III.4 deposit workflow with the </a:t>
            </a:r>
            <a:r>
              <a:rPr>
                <a:latin typeface="Courier"/>
              </a:rPr>
              <a:t>--update-metadata-only</a:t>
            </a:r>
          </a:p>
          <a:p>
            <a:pPr lvl="0" indent="0">
              <a:buNone/>
            </a:pPr>
            <a:r>
              <a:rPr>
                <a:latin typeface="Courier"/>
              </a:rPr>
              <a:t>[...]
 | preston zenodo --update-metadata-only --algo md5 [...]</a:t>
            </a:r>
          </a:p>
          <a:p>
            <a:pPr lvl="0" indent="-342900" marL="342900">
              <a:buAutoNum startAt="3" type="arabicPeriod"/>
            </a:pPr>
            <a:r>
              <a:rPr/>
              <a:t>Verify that the metadata of record in Zenodo was updated, but no new version was created.</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IV.2 - Create New Record with Updated PDF and Metadata</a:t>
            </a:r>
          </a:p>
        </p:txBody>
      </p:sp>
      <p:sp>
        <p:nvSpPr>
          <p:cNvPr id="3" name="Content Placeholder 2"/>
          <p:cNvSpPr>
            <a:spLocks noGrp="1"/>
          </p:cNvSpPr>
          <p:nvPr>
            <p:ph idx="1"/>
          </p:nvPr>
        </p:nvSpPr>
        <p:spPr/>
        <p:txBody>
          <a:bodyPr/>
          <a:lstStyle/>
          <a:p>
            <a:pPr lvl="0" indent="-342900" marL="342900">
              <a:buAutoNum type="arabicPeriod"/>
            </a:pPr>
            <a:r>
              <a:rPr/>
              <a:t>Replace a pdf attachment for an already deposited Zotero record.</a:t>
            </a:r>
          </a:p>
          <a:p>
            <a:pPr lvl="0" indent="-342900" marL="342900">
              <a:buAutoNum type="arabicPeriod"/>
            </a:pPr>
            <a:r>
              <a:rPr/>
              <a:t>Re-run the III.4 deposit workflow with the </a:t>
            </a:r>
            <a:r>
              <a:rPr>
                <a:latin typeface="Courier"/>
              </a:rPr>
              <a:t>--new-version</a:t>
            </a:r>
          </a:p>
          <a:p>
            <a:pPr lvl="0" indent="0">
              <a:buNone/>
            </a:pPr>
            <a:r>
              <a:rPr>
                <a:latin typeface="Courier"/>
              </a:rPr>
              <a:t>[...]
 | preston zenodo --new-version --algo md5 [...]</a:t>
            </a:r>
          </a:p>
          <a:p>
            <a:pPr lvl="0" indent="-342900" marL="342900">
              <a:buAutoNum startAt="3" type="arabicPeriod"/>
            </a:pPr>
            <a:r>
              <a:rPr/>
              <a:t>Verify that a new version was created for the Zenodo record including the updated pdf</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IV.3 - Retire Zenodo Deposit Associated with Deleted Zotero Record</a:t>
            </a:r>
          </a:p>
        </p:txBody>
      </p:sp>
      <p:sp>
        <p:nvSpPr>
          <p:cNvPr id="3" name="Content Placeholder 2"/>
          <p:cNvSpPr>
            <a:spLocks noGrp="1"/>
          </p:cNvSpPr>
          <p:nvPr>
            <p:ph idx="1"/>
          </p:nvPr>
        </p:nvSpPr>
        <p:spPr/>
        <p:txBody>
          <a:bodyPr/>
          <a:lstStyle/>
          <a:p>
            <a:pPr lvl="0" indent="0" marL="0">
              <a:buNone/>
            </a:pPr>
            <a:r>
              <a:rPr/>
              <a:t>(for now, manual workflow, can be automated if needed)</a:t>
            </a:r>
          </a:p>
          <a:p>
            <a:pPr lvl="0" indent="-342900" marL="342900">
              <a:buAutoNum type="arabicPeriod"/>
            </a:pPr>
            <a:r>
              <a:rPr/>
              <a:t>Locate the Zenodo Deposit Associated with a Zotero record that no longer exists</a:t>
            </a:r>
          </a:p>
          <a:p>
            <a:pPr lvl="0" indent="-342900" marL="342900">
              <a:buAutoNum type="arabicPeriod"/>
            </a:pPr>
            <a:r>
              <a:rPr/>
              <a:t>Click on Community :gear: icon “submit to community” in lower right panel</a:t>
            </a:r>
          </a:p>
          <a:p>
            <a:pPr lvl="0" indent="-342900" marL="342900">
              <a:buAutoNum type="arabicPeriod"/>
            </a:pPr>
            <a:r>
              <a:rPr/>
              <a:t>Submit to the “batlit-retired” community</a:t>
            </a:r>
          </a:p>
          <a:p>
            <a:pPr lvl="0" indent="-342900" marL="342900">
              <a:buAutoNum type="arabicPeriod"/>
            </a:pPr>
            <a:r>
              <a:rPr/>
              <a:t>Click on “manage communities”</a:t>
            </a:r>
          </a:p>
          <a:p>
            <a:pPr lvl="0" indent="-342900" marL="342900">
              <a:buAutoNum type="arabicPeriod"/>
            </a:pPr>
            <a:r>
              <a:rPr/>
              <a:t>If present, remove the deposit from the BatLit and BLR communities</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V.1 - BatLit Release Introduction.</a:t>
            </a:r>
          </a:p>
        </p:txBody>
      </p:sp>
      <p:sp>
        <p:nvSpPr>
          <p:cNvPr id="3" name="Content Placeholder 2"/>
          <p:cNvSpPr>
            <a:spLocks noGrp="1"/>
          </p:cNvSpPr>
          <p:nvPr>
            <p:ph idx="1"/>
          </p:nvPr>
        </p:nvSpPr>
        <p:spPr/>
        <p:txBody>
          <a:bodyPr/>
          <a:lstStyle/>
          <a:p>
            <a:pPr lvl="0" indent="0" marL="0">
              <a:buNone/>
            </a:pPr>
            <a:r>
              <a:rPr/>
              <a:t>Metadata for BatLit releases are in the data folder of https://github.com/bat-literature/bat-literature.github.io . A new release needs to be linked to the older releases to enable version tracking between versions. This is why we need to clone or update the github repository first before making a snapshot of the BatLit Zotero group. Then, after making the snapshot, we include the tracked metadata and commit this to the repository. Also, we keep a copy of the metadata + pdfs elsewhere. So, you need to backup the data folder including metadata and pdfs.</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V.2 - Clone/Update BatLit Repository</a:t>
            </a:r>
          </a:p>
        </p:txBody>
      </p:sp>
      <p:sp>
        <p:nvSpPr>
          <p:cNvPr id="3" name="Content Placeholder 2"/>
          <p:cNvSpPr>
            <a:spLocks noGrp="1"/>
          </p:cNvSpPr>
          <p:nvPr>
            <p:ph idx="1"/>
          </p:nvPr>
        </p:nvSpPr>
        <p:spPr/>
        <p:txBody>
          <a:bodyPr/>
          <a:lstStyle/>
          <a:p>
            <a:pPr lvl="0" indent="0" marL="0">
              <a:buNone/>
            </a:pPr>
            <a:r>
              <a:rPr/>
              <a:t>Make sure to install </a:t>
            </a:r>
            <a:r>
              <a:rPr>
                <a:latin typeface="Courier"/>
              </a:rPr>
              <a:t>git</a:t>
            </a:r>
            <a:r>
              <a:rPr/>
              <a:t> on your system by running:</a:t>
            </a:r>
          </a:p>
          <a:p>
            <a:pPr lvl="0" indent="0">
              <a:buNone/>
            </a:pPr>
            <a:r>
              <a:rPr>
                <a:latin typeface="Courier"/>
              </a:rPr>
              <a:t>sudo apt install git</a:t>
            </a:r>
          </a:p>
          <a:p>
            <a:pPr lvl="0" indent="0" marL="0">
              <a:buNone/>
            </a:pPr>
            <a:r>
              <a:rPr/>
              <a:t>check whether git installed by</a:t>
            </a:r>
          </a:p>
          <a:p>
            <a:pPr lvl="0" indent="0">
              <a:buNone/>
            </a:pPr>
            <a:r>
              <a:rPr>
                <a:latin typeface="Courier"/>
              </a:rPr>
              <a:t>git --version</a:t>
            </a:r>
          </a:p>
          <a:p>
            <a:pPr lvl="0" indent="0" marL="0">
              <a:buNone/>
            </a:pPr>
            <a:r>
              <a:rPr/>
              <a:t>this should produce something like:</a:t>
            </a:r>
          </a:p>
          <a:p>
            <a:pPr lvl="0" indent="0">
              <a:buNone/>
            </a:pPr>
            <a:r>
              <a:rPr>
                <a:latin typeface="Courier"/>
              </a:rPr>
              <a:t>git version 2.43.0</a:t>
            </a:r>
          </a:p>
          <a:p>
            <a:pPr lvl="0" indent="0" marL="0">
              <a:buNone/>
            </a:pPr>
            <a:r>
              <a:rPr/>
              <a:t>then, run</a:t>
            </a:r>
          </a:p>
          <a:p>
            <a:pPr lvl="0" indent="0">
              <a:buNone/>
            </a:pPr>
            <a:r>
              <a:rPr>
                <a:latin typeface="Courier"/>
              </a:rPr>
              <a:t>git clone https://github.com/bat-literature/bat-literature.github.io </a:t>
            </a:r>
          </a:p>
          <a:p>
            <a:pPr lvl="0" indent="0" marL="0">
              <a:buNone/>
            </a:pPr>
            <a:r>
              <a:rPr/>
              <a:t>to “clone” (or create a copy of) the BatLit repository. By default, the repository is cloned into a folder with the same name as the repository (e.g., </a:t>
            </a:r>
            <a:r>
              <a:rPr>
                <a:latin typeface="Courier"/>
              </a:rPr>
              <a:t>bat-literature.github.io</a:t>
            </a:r>
            <a:r>
              <a:rPr/>
              <a:t>).</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V.3 - Verify Current BatLit Version</a:t>
            </a:r>
          </a:p>
        </p:txBody>
      </p:sp>
      <p:sp>
        <p:nvSpPr>
          <p:cNvPr id="3" name="Content Placeholder 2"/>
          <p:cNvSpPr>
            <a:spLocks noGrp="1"/>
          </p:cNvSpPr>
          <p:nvPr>
            <p:ph idx="1"/>
          </p:nvPr>
        </p:nvSpPr>
        <p:spPr/>
        <p:txBody>
          <a:bodyPr/>
          <a:lstStyle/>
          <a:p>
            <a:pPr lvl="0" indent="-342900" marL="342900">
              <a:buAutoNum type="arabicPeriod"/>
            </a:pPr>
            <a:r>
              <a:rPr/>
              <a:t>go into </a:t>
            </a:r>
            <a:r>
              <a:rPr>
                <a:latin typeface="Courier"/>
              </a:rPr>
              <a:t>bat-literature.github.io</a:t>
            </a:r>
            <a:r>
              <a:rPr/>
              <a:t> directory using </a:t>
            </a:r>
            <a:r>
              <a:rPr>
                <a:latin typeface="Courier"/>
              </a:rPr>
              <a:t>cd</a:t>
            </a:r>
          </a:p>
          <a:p>
            <a:pPr lvl="0" indent="-342900" marL="342900">
              <a:buAutoNum type="arabicPeriod"/>
            </a:pPr>
            <a:r>
              <a:rPr/>
              <a:t>run </a:t>
            </a:r>
            <a:r>
              <a:rPr>
                <a:latin typeface="Courier"/>
              </a:rPr>
              <a:t>preston head --algo md5</a:t>
            </a:r>
          </a:p>
          <a:p>
            <a:pPr lvl="0" indent="-342900" marL="342900">
              <a:buAutoNum type="arabicPeriod"/>
            </a:pPr>
            <a:r>
              <a:rPr/>
              <a:t>Compare the output of the command with the existing version on https://batlit.org/datapaper</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V.4 - Create a Zotero Snapshot</a:t>
            </a:r>
          </a:p>
        </p:txBody>
      </p:sp>
      <p:sp>
        <p:nvSpPr>
          <p:cNvPr id="3" name="Content Placeholder 2"/>
          <p:cNvSpPr>
            <a:spLocks noGrp="1"/>
          </p:cNvSpPr>
          <p:nvPr>
            <p:ph idx="1"/>
          </p:nvPr>
        </p:nvSpPr>
        <p:spPr/>
        <p:txBody>
          <a:bodyPr/>
          <a:lstStyle/>
          <a:p>
            <a:pPr lvl="0" indent="-342900" marL="342900">
              <a:buAutoNum type="arabicPeriod"/>
            </a:pPr>
            <a:r>
              <a:rPr/>
              <a:t>Set Zotero API Key with read-only access to the BatLit Zotero</a:t>
            </a:r>
          </a:p>
          <a:p>
            <a:pPr lvl="0" indent="-342900" marL="342900">
              <a:buAutoNum type="arabicPeriod"/>
            </a:pPr>
            <a:r>
              <a:rPr/>
              <a:t>Go into the </a:t>
            </a:r>
            <a:r>
              <a:rPr>
                <a:latin typeface="Courier"/>
              </a:rPr>
              <a:t>bat-literature.github.io</a:t>
            </a:r>
            <a:r>
              <a:rPr/>
              <a:t> directory</a:t>
            </a:r>
          </a:p>
          <a:p>
            <a:pPr lvl="0" indent="-342900" marL="342900">
              <a:buAutoNum type="arabicPeriod"/>
            </a:pPr>
            <a:r>
              <a:rPr/>
              <a:t>Verify that a preston history exists by running </a:t>
            </a:r>
            <a:r>
              <a:rPr>
                <a:latin typeface="Courier"/>
              </a:rPr>
              <a:t>preston history --algo md5</a:t>
            </a:r>
          </a:p>
          <a:p>
            <a:pPr lvl="0" indent="-342900" marL="342900">
              <a:buAutoNum type="arabicPeriod"/>
            </a:pPr>
            <a:r>
              <a:rPr/>
              <a:t>Create a snapshot of the BatLit Zotero group</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VI.1- Update the “HEAD” or most recent version</a:t>
            </a:r>
          </a:p>
        </p:txBody>
      </p:sp>
      <p:sp>
        <p:nvSpPr>
          <p:cNvPr id="3" name="Content Placeholder 2"/>
          <p:cNvSpPr>
            <a:spLocks noGrp="1"/>
          </p:cNvSpPr>
          <p:nvPr>
            <p:ph idx="1"/>
          </p:nvPr>
        </p:nvSpPr>
        <p:spPr/>
        <p:txBody>
          <a:bodyPr/>
          <a:lstStyle/>
          <a:p>
            <a:pPr lvl="0" indent="-342900" marL="342900">
              <a:buAutoNum type="arabicPeriod"/>
            </a:pPr>
            <a:r>
              <a:rPr/>
              <a:t>open a terminal</a:t>
            </a:r>
          </a:p>
          <a:p>
            <a:pPr lvl="0" indent="-342900" marL="342900">
              <a:buAutoNum type="arabicPeriod"/>
            </a:pPr>
            <a:r>
              <a:rPr/>
              <a:t>go into the </a:t>
            </a:r>
            <a:r>
              <a:rPr>
                <a:latin typeface="Courier"/>
              </a:rPr>
              <a:t>bat-literature.github.io</a:t>
            </a:r>
            <a:r>
              <a:rPr/>
              <a:t> directory</a:t>
            </a:r>
          </a:p>
          <a:p>
            <a:pPr lvl="0" indent="-342900" marL="342900">
              <a:buAutoNum type="arabicPeriod"/>
            </a:pPr>
            <a:r>
              <a:rPr/>
              <a:t>make sure that the </a:t>
            </a:r>
            <a:r>
              <a:rPr>
                <a:latin typeface="Courier"/>
              </a:rPr>
              <a:t>HEAD</a:t>
            </a:r>
            <a:r>
              <a:rPr/>
              <a:t> file contain the most recent hash of the BatLit version by running</a:t>
            </a:r>
          </a:p>
          <a:p>
            <a:pPr lvl="0" indent="0">
              <a:buNone/>
            </a:pPr>
            <a:r>
              <a:rPr>
                <a:latin typeface="Courier"/>
              </a:rPr>
              <a:t>preston head --algo md5 &gt; HEAD</a:t>
            </a:r>
          </a:p>
          <a:p>
            <a:pPr lvl="0" indent="0" marL="0">
              <a:buNone/>
            </a:pPr>
            <a:r>
              <a:rPr/>
              <a:t>and verifying that the first hash is the same as the one in the </a:t>
            </a:r>
            <a:r>
              <a:rPr>
                <a:latin typeface="Courier"/>
              </a:rPr>
              <a:t>HEAD</a:t>
            </a:r>
            <a:r>
              <a:rPr/>
              <a:t> file by running</a:t>
            </a:r>
          </a:p>
          <a:p>
            <a:pPr lvl="0" indent="0">
              <a:buNone/>
            </a:pPr>
            <a:r>
              <a:rPr>
                <a:latin typeface="Courier"/>
              </a:rPr>
              <a:t>cat HEAD</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VI.2- Update the Reference Lists for Website/search</a:t>
            </a:r>
          </a:p>
        </p:txBody>
      </p:sp>
      <p:sp>
        <p:nvSpPr>
          <p:cNvPr id="3" name="Content Placeholder 2"/>
          <p:cNvSpPr>
            <a:spLocks noGrp="1"/>
          </p:cNvSpPr>
          <p:nvPr>
            <p:ph idx="1"/>
          </p:nvPr>
        </p:nvSpPr>
        <p:spPr/>
        <p:txBody>
          <a:bodyPr/>
          <a:lstStyle/>
          <a:p>
            <a:pPr lvl="0" indent="-342900" marL="342900">
              <a:buAutoNum type="arabicPeriod"/>
            </a:pPr>
            <a:r>
              <a:rPr/>
              <a:t>open a terminal</a:t>
            </a:r>
          </a:p>
          <a:p>
            <a:pPr lvl="0" indent="-342900" marL="342900">
              <a:buAutoNum type="arabicPeriod"/>
            </a:pPr>
            <a:r>
              <a:rPr/>
              <a:t>go into the </a:t>
            </a:r>
            <a:r>
              <a:rPr>
                <a:latin typeface="Courier"/>
              </a:rPr>
              <a:t>bat-literature.github.io</a:t>
            </a:r>
            <a:r>
              <a:rPr/>
              <a:t> directory</a:t>
            </a:r>
          </a:p>
          <a:p>
            <a:pPr lvl="0" indent="-342900" marL="342900">
              <a:buAutoNum type="arabicPeriod"/>
            </a:pPr>
            <a:r>
              <a:rPr/>
              <a:t>verify that the program “miller” is installed by running</a:t>
            </a:r>
          </a:p>
          <a:p>
            <a:pPr lvl="0" indent="0">
              <a:buNone/>
            </a:pPr>
            <a:r>
              <a:rPr>
                <a:latin typeface="Courier"/>
              </a:rPr>
              <a:t>mlr --version</a:t>
            </a:r>
          </a:p>
          <a:p>
            <a:pPr lvl="0" indent="0" marL="0">
              <a:buNone/>
            </a:pPr>
            <a:r>
              <a:rPr/>
              <a:t>If not install, run:</a:t>
            </a:r>
          </a:p>
          <a:p>
            <a:pPr lvl="0" indent="0">
              <a:buNone/>
            </a:pPr>
            <a:r>
              <a:rPr>
                <a:latin typeface="Courier"/>
              </a:rPr>
              <a:t>sudo apt install miller</a:t>
            </a:r>
          </a:p>
          <a:p>
            <a:pPr lvl="0" indent="-342900" marL="342900">
              <a:buAutoNum startAt="4" type="arabicPeriod"/>
            </a:pPr>
            <a:r>
              <a:rPr/>
              <a:t>to generate a table of the most recent bat lit references, run the command:</a:t>
            </a:r>
          </a:p>
          <a:p>
            <a:pPr lvl="0" indent="0">
              <a:buNone/>
            </a:pPr>
            <a:r>
              <a:rPr>
                <a:latin typeface="Courier"/>
              </a:rPr>
              <a:t>bin/list-refs.sh\
 | tee zotero/refs.csv</a:t>
            </a:r>
          </a:p>
          <a:p>
            <a:pPr lvl="0" indent="-342900" marL="342900">
              <a:buAutoNum startAt="5" type="arabicPeriod"/>
            </a:pPr>
            <a:r>
              <a:rPr/>
              <a:t>inspect the file </a:t>
            </a:r>
            <a:r>
              <a:rPr>
                <a:latin typeface="Courier"/>
              </a:rPr>
              <a:t>zotero/refs.csv</a:t>
            </a:r>
          </a:p>
          <a:p>
            <a:pPr lvl="0" indent="-342900" marL="342900">
              <a:buAutoNum startAt="5" type="arabicPeriod"/>
            </a:pPr>
            <a:r>
              <a:rPr/>
              <a:t>Now, generate the files </a:t>
            </a:r>
            <a:r>
              <a:rPr>
                <a:latin typeface="Courier"/>
              </a:rPr>
              <a:t>zotero/refs.tsv</a:t>
            </a:r>
            <a:r>
              <a:rPr/>
              <a:t>, </a:t>
            </a:r>
            <a:r>
              <a:rPr>
                <a:latin typeface="Courier"/>
              </a:rPr>
              <a:t>zotero/refs-100.csv</a:t>
            </a:r>
            <a:r>
              <a:rPr/>
              <a:t> and </a:t>
            </a:r>
            <a:r>
              <a:rPr>
                <a:latin typeface="Courier"/>
              </a:rPr>
              <a:t>zotero/refs-100.tsv</a:t>
            </a:r>
          </a:p>
          <a:p>
            <a:pPr lvl="0" indent="0" marL="0">
              <a:buNone/>
            </a:pPr>
            <a:r>
              <a:rPr/>
              <a:t>using </a:t>
            </a:r>
            <a:r>
              <a:rPr>
                <a:latin typeface="Courier"/>
              </a:rPr>
              <a:t>cat zotero/refs.csv\   | mlr --icsv --otsvlite cat\    &gt; zotero/refs.tsv</a:t>
            </a:r>
          </a:p>
          <a:p>
            <a:pPr lvl="0" indent="0">
              <a:buNone/>
            </a:pPr>
            <a:r>
              <a:rPr>
                <a:latin typeface="Courier"/>
              </a:rPr>
              <a:t>cat zotero/refs.csv\
 | head -n101\
  &gt; zotero/refs-100.csv</a:t>
            </a:r>
          </a:p>
          <a:p>
            <a:pPr lvl="0" indent="0">
              <a:buNone/>
            </a:pPr>
            <a:r>
              <a:rPr>
                <a:latin typeface="Courier"/>
              </a:rPr>
              <a:t> cat zotero/refs.csv\
  | head -n101\
   &gt; zotero/refs-100.csv</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VI.3- Link BatLit references to their Zenodo deposits</a:t>
            </a:r>
          </a:p>
        </p:txBody>
      </p:sp>
      <p:sp>
        <p:nvSpPr>
          <p:cNvPr id="3" name="Content Placeholder 2"/>
          <p:cNvSpPr>
            <a:spLocks noGrp="1"/>
          </p:cNvSpPr>
          <p:nvPr>
            <p:ph idx="1"/>
          </p:nvPr>
        </p:nvSpPr>
        <p:spPr/>
        <p:txBody>
          <a:bodyPr/>
          <a:lstStyle/>
          <a:p>
            <a:pPr lvl="0" indent="0" marL="0">
              <a:buNone/>
            </a:pPr>
            <a:r>
              <a:rPr/>
              <a:t>Now that we’ve created a reference table for the versioned Zotero records in </a:t>
            </a:r>
            <a:r>
              <a:rPr>
                <a:latin typeface="Courier"/>
              </a:rPr>
              <a:t>zotero/refs.csv</a:t>
            </a:r>
            <a:r>
              <a:rPr/>
              <a:t>, we’d like to add the Zenodo deposits associated with the Zotero records.</a:t>
            </a:r>
          </a:p>
          <a:p>
            <a:pPr lvl="0" indent="0" marL="0">
              <a:buNone/>
            </a:pPr>
            <a:r>
              <a:rPr/>
              <a:t>For instance, the Zotero record identified by </a:t>
            </a:r>
            <a:r>
              <a:rPr>
                <a:latin typeface="Courier"/>
              </a:rPr>
              <a:t>urn:lsid:zotero.org:groups:5435545:items:NBLJKXN9</a:t>
            </a:r>
            <a:r>
              <a:rPr/>
              <a:t> is associated a reference with title “Lagos Bat Virus, an Under-Reported Rabies-Related Lyssavirus”. This reference is included in some specific row in the file </a:t>
            </a:r>
            <a:r>
              <a:rPr>
                <a:latin typeface="Courier"/>
              </a:rPr>
              <a:t>zotero/refs.csv</a:t>
            </a:r>
            <a:r>
              <a:rPr/>
              <a:t>.</a:t>
            </a:r>
          </a:p>
          <a:p>
            <a:pPr lvl="0" indent="0" marL="0">
              <a:buNone/>
            </a:pPr>
            <a:r>
              <a:rPr/>
              <a:t>Following, we’d like to link this Zotero records to their counterpart in Zenodo. We do this via the identifier </a:t>
            </a:r>
            <a:r>
              <a:rPr>
                <a:latin typeface="Courier"/>
              </a:rPr>
              <a:t>urn:lsid:zotero.org:groups:5435545:items:NBLJKXN9</a:t>
            </a:r>
            <a:r>
              <a:rPr/>
              <a:t> . This identifier is embedded in the Zenodo deposits, and can be used to locate them in Zenodo.</a:t>
            </a:r>
          </a:p>
          <a:p>
            <a:pPr lvl="0" indent="0" marL="0">
              <a:buNone/>
            </a:pPr>
            <a:r>
              <a:rPr/>
              <a:t>Finding a record associated with </a:t>
            </a:r>
            <a:r>
              <a:rPr>
                <a:latin typeface="Courier"/>
              </a:rPr>
              <a:t>urn:lsid:zotero.org:groups:5435545:items:NBLJKXN9</a:t>
            </a:r>
            <a:r>
              <a:rPr/>
              <a:t> can be done using:</a:t>
            </a:r>
          </a:p>
          <a:p>
            <a:pPr lvl="0" indent="0" marL="0">
              <a:buNone/>
            </a:pPr>
            <a:r>
              <a:rPr/>
              <a:t>https://zenodo.org/search?q=%22urn%3Alsid%3Azotero.org%3Agroups%3A5435545%3Aitems%3ANBLJKXN9%22</a:t>
            </a:r>
          </a:p>
          <a:p>
            <a:pPr lvl="0" indent="0" marL="0">
              <a:buNone/>
            </a:pPr>
            <a:r>
              <a:rPr/>
              <a:t>which would generate some point-and-click result through a webpage.</a:t>
            </a:r>
          </a:p>
          <a:p>
            <a:pPr lvl="0" indent="0" marL="0">
              <a:buNone/>
            </a:pPr>
            <a:r>
              <a:rPr/>
              <a:t>In order to make it easier to link straight from https://batlit.org to Zenodo, we have an automated workflow that programmatically queries Zenodo for the Zotero URNs in the BatLit reference list, and saves the result as a additional table column.</a:t>
            </a:r>
          </a:p>
          <a:p>
            <a:pPr lvl="0" indent="0" marL="0">
              <a:buNone/>
            </a:pPr>
            <a:r>
              <a:rPr/>
              <a:t>First, we run the queries and save the results using:</a:t>
            </a:r>
          </a:p>
          <a:p>
            <a:pPr lvl="0" indent="0">
              <a:buNone/>
            </a:pPr>
            <a:r>
              <a:rPr>
                <a:latin typeface="Courier"/>
              </a:rPr>
              <a:t>bin/track-zenodo-associations.sh</a:t>
            </a:r>
          </a:p>
          <a:p>
            <a:pPr lvl="0" indent="0" marL="0">
              <a:buNone/>
            </a:pPr>
            <a:r>
              <a:rPr/>
              <a:t>(take a while, because it runs ~20k queries against the Zenodo API)</a:t>
            </a:r>
          </a:p>
          <a:p>
            <a:pPr lvl="0" indent="0" marL="0">
              <a:buNone/>
            </a:pPr>
            <a:r>
              <a:rPr/>
              <a:t>then, after getting the results, we generate an enriched version of refs.csv using</a:t>
            </a:r>
          </a:p>
          <a:p>
            <a:pPr lvl="0" indent="0">
              <a:buNone/>
            </a:pPr>
            <a:r>
              <a:rPr>
                <a:latin typeface="Courier"/>
              </a:rPr>
              <a:t>bin/refs2zenodo.sh\
 &gt; zenodo/refs.csv</a:t>
            </a:r>
          </a:p>
          <a:p>
            <a:pPr lvl="0" indent="0" marL="0">
              <a:buNone/>
            </a:pPr>
            <a:r>
              <a:rPr/>
              <a:t>This enriched version contains a Zenodo doi’s associated with Zotero records.</a:t>
            </a:r>
          </a:p>
          <a:p>
            <a:pPr lvl="0" indent="0" marL="0">
              <a:buNone/>
            </a:pPr>
            <a:r>
              <a:rPr/>
              <a:t>Repeat steps from previous zotero/ refs files to generate tsv and summary versions.</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Notes</a:t>
            </a:r>
          </a:p>
        </p:txBody>
      </p:sp>
      <p:sp>
        <p:nvSpPr>
          <p:cNvPr id="3" name="Content Placeholder 2"/>
          <p:cNvSpPr>
            <a:spLocks noGrp="1"/>
          </p:cNvSpPr>
          <p:nvPr>
            <p:ph idx="1"/>
          </p:nvPr>
        </p:nvSpPr>
        <p:spPr/>
        <p:txBody>
          <a:bodyPr/>
          <a:lstStyle/>
          <a:p>
            <a:pPr lvl="0" indent="0" marL="0">
              <a:buNone/>
            </a:pPr>
            <a:r>
              <a:rPr sz="1800"/>
              <a:t>1. Elliott M.J., Poelen, J.H. &amp; Fortes, J.A.B. (2023) Signing data citations enables data verification and citation persistence. </a:t>
            </a:r>
            <a:r>
              <a:rPr sz="1800" i="1"/>
              <a:t>Sci Data</a:t>
            </a:r>
            <a:r>
              <a:rPr sz="1800"/>
              <a:t>. https://doi.org/10.1038/s41597-023-02230-y </a:t>
            </a:r>
            <a:r>
              <a:rPr sz="1800">
                <a:hlinkClick r:id="rId2"/>
              </a:rPr>
              <a:t>hash://sha256/f849c870565f608899f183ca261365dce9c9f1c5441b1c779e0db49df9c2a19d</a:t>
            </a:r>
          </a:p>
          <a:p>
            <a:pPr lvl="0" indent="0" marL="0">
              <a:buNone/>
            </a:pPr>
            <a:r>
              <a:rPr sz="1800"/>
              <a:t>2. https://globalbioticinteractions.org/preston</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Mobilizing Bat Literature</dc:title>
  <dc:creator>Jorrit Poelen (UC Santa Barbara Cheadle Center, Ronin Institute, GloBI); Aja Sherman (Bat Eco-Interactions Project)</dc:creator>
  <cp:keywords/>
  <dcterms:created xsi:type="dcterms:W3CDTF">2026-02-25T13:25:40Z</dcterms:created>
  <dcterms:modified xsi:type="dcterms:W3CDTF">2026-02-25T13:25:40Z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spectratio">
    <vt:lpwstr>169</vt:lpwstr>
  </property>
  <property fmtid="{D5CDD505-2E9C-101B-9397-08002B2CF9AE}" pid="3" name="date">
    <vt:lpwstr>2025-08-26/2025-09-17</vt:lpwstr>
  </property>
  <property fmtid="{D5CDD505-2E9C-101B-9397-08002B2CF9AE}" pid="4" name="subtitle">
    <vt:lpwstr>using versioned snapshots of the Zotero BatLit Library</vt:lpwstr>
  </property>
</Properties>
</file>